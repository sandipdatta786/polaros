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54571"/>
  </p:normalViewPr>
  <p:slideViewPr>
    <p:cSldViewPr snapToGrid="0" snapToObjects="1">
      <p:cViewPr>
        <p:scale>
          <a:sx n="114" d="100"/>
          <a:sy n="114" d="100"/>
        </p:scale>
        <p:origin x="37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418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effectLst/>
              </a:rPr>
              <a:t>This is the opener — the first content slide the jury sees, delivered inside your first sixty seconds, when their attention is at its peak and their opinion of you is still unformed. Its job maps to the Presentation parameter's hardest sub-task: make a jury that has already heard twenty pitches today </a:t>
            </a:r>
            <a:r>
              <a:rPr lang="en-IN" i="1" dirty="0">
                <a:effectLst/>
              </a:rPr>
              <a:t>sit up</a:t>
            </a:r>
            <a:r>
              <a:rPr lang="en-IN" dirty="0">
                <a:effectLst/>
              </a:rPr>
              <a:t>. The technique is the "one hard number" open I recommended when we rebuilt the deck — and it's worth understanding why this particular number, framed this particular way, does so much work.</a:t>
            </a:r>
          </a:p>
          <a:p>
            <a:pPr rtl="0"/>
            <a:r>
              <a:rPr lang="en-IN" b="1" dirty="0">
                <a:effectLst/>
              </a:rPr>
              <a:t>Why "12 months" and not a bigger, flashier number</a:t>
            </a:r>
          </a:p>
          <a:p>
            <a:pPr rtl="0"/>
            <a:r>
              <a:rPr lang="en-IN" dirty="0">
                <a:effectLst/>
              </a:rPr>
              <a:t>Most teams open with scale: "India spends X crores on Antarctic missions," "the global polar logistics market is worth Y billion." Juries are numb to those numbers — they're large, unverifiable, and about </a:t>
            </a:r>
            <a:r>
              <a:rPr lang="en-IN" i="1" dirty="0">
                <a:effectLst/>
              </a:rPr>
              <a:t>other people's money</a:t>
            </a:r>
            <a:r>
              <a:rPr lang="en-IN" dirty="0">
                <a:effectLst/>
              </a:rPr>
              <a:t>. This slide instead picks a number denominated in </a:t>
            </a:r>
            <a:r>
              <a:rPr lang="en-IN" b="1" dirty="0">
                <a:effectLst/>
              </a:rPr>
              <a:t>time</a:t>
            </a:r>
            <a:r>
              <a:rPr lang="en-IN" dirty="0">
                <a:effectLst/>
              </a:rPr>
              <a:t>, and specifically in </a:t>
            </a:r>
            <a:r>
              <a:rPr lang="en-IN" i="1" dirty="0">
                <a:effectLst/>
              </a:rPr>
              <a:t>consequence</a:t>
            </a:r>
            <a:r>
              <a:rPr lang="en-IN" dirty="0">
                <a:effectLst/>
              </a:rPr>
              <a:t>: </a:t>
            </a:r>
            <a:r>
              <a:rPr lang="en-IN" b="1" dirty="0">
                <a:effectLst/>
              </a:rPr>
              <a:t>12 months is the cost of one missed crate.</a:t>
            </a:r>
            <a:r>
              <a:rPr lang="en-IN" dirty="0">
                <a:effectLst/>
              </a:rPr>
              <a:t> Three properties make it the right choice:</a:t>
            </a:r>
          </a:p>
          <a:p>
            <a:pPr lvl="0" rtl="0"/>
            <a:r>
              <a:rPr lang="en-IN" b="1" dirty="0">
                <a:effectLst/>
              </a:rPr>
              <a:t>It's small enough to be graspable and large enough to be shocking.</a:t>
            </a:r>
            <a:r>
              <a:rPr lang="en-IN" dirty="0">
                <a:effectLst/>
              </a:rPr>
              <a:t> Everyone in the room instantly simulates it: a spare part for the generator, a box of medical supplies, a reagent for an experiment — forgotten, mislabelled, bumped from an overweight flight — and the remedy is </a:t>
            </a:r>
            <a:r>
              <a:rPr lang="en-IN" i="1" dirty="0">
                <a:effectLst/>
              </a:rPr>
              <a:t>next year</a:t>
            </a:r>
            <a:r>
              <a:rPr lang="en-IN" dirty="0">
                <a:effectLst/>
              </a:rPr>
              <a:t>. No supply chain the jury has ever worked with behaves like this; Amazon fixes a missed parcel in a day, a factory in a week. That gap between their intuition and this reality is the "sit up" moment.</a:t>
            </a:r>
          </a:p>
          <a:p>
            <a:pPr lvl="0" rtl="0"/>
            <a:r>
              <a:rPr lang="en-IN" b="1" dirty="0">
                <a:effectLst/>
              </a:rPr>
              <a:t>It's structurally true, not statistically true.</a:t>
            </a:r>
            <a:r>
              <a:rPr lang="en-IN" dirty="0">
                <a:effectLst/>
              </a:rPr>
              <a:t> You don't need a source or a footnote — it follows from the Dec–Feb window itself. A judge cannot challenge it without challenging the calendar.</a:t>
            </a:r>
          </a:p>
          <a:p>
            <a:pPr lvl="0" rtl="0"/>
            <a:r>
              <a:rPr lang="en-IN" b="1" dirty="0">
                <a:effectLst/>
              </a:rPr>
              <a:t>It pre-loads every later slide.</a:t>
            </a:r>
            <a:r>
              <a:rPr lang="en-IN" dirty="0">
                <a:effectLst/>
              </a:rPr>
              <a:t> The capacity solver "flags what cannot make the season" — matters because of 12 months. The burn-rate forecast's "seven weeks before the ship" — matters because of 12 months. The ILP-over-greedy trade-off ("infeasible must be flagged, not fudged") — 12 months again. This one number is the deck's unit of stakes; you're teaching the jury the currency in the first breath.</a:t>
            </a:r>
          </a:p>
          <a:p>
            <a:pPr rtl="0"/>
            <a:r>
              <a:rPr lang="en-IN" dirty="0">
                <a:effectLst/>
              </a:rPr>
              <a:t>The supporting sentence under it then supplies the mechanism in twenty-five words: resupply once a year, Dec–Feb, and — the humanizing detail — </a:t>
            </a:r>
            <a:r>
              <a:rPr lang="en-IN" b="1" dirty="0">
                <a:effectLst/>
              </a:rPr>
              <a:t>15–25 people</a:t>
            </a:r>
            <a:r>
              <a:rPr lang="en-IN" dirty="0">
                <a:effectLst/>
              </a:rPr>
              <a:t> living for nine months on what already arrived. Note the shift from cargo to people mid-sentence; that's what stops this being an abstract logistics pitch. The stakes have names and bunk beds.</a:t>
            </a:r>
          </a:p>
          <a:p>
            <a:pPr rtl="0"/>
            <a:r>
              <a:rPr lang="en-IN" b="1" dirty="0">
                <a:effectLst/>
              </a:rPr>
              <a:t>The right-hand box — the evidence panel</a:t>
            </a:r>
          </a:p>
          <a:p>
            <a:pPr rtl="0"/>
            <a:r>
              <a:rPr lang="en-IN" dirty="0">
                <a:effectLst/>
              </a:rPr>
              <a:t>The left half is emotion; the right half is proof, and its header is the most important line in it: </a:t>
            </a:r>
            <a:r>
              <a:rPr lang="en-IN" b="1" dirty="0">
                <a:effectLst/>
              </a:rPr>
              <a:t>"from NCPOR's own notices."</a:t>
            </a:r>
            <a:r>
              <a:rPr lang="en-IN" dirty="0">
                <a:effectLst/>
              </a:rPr>
              <a:t> Every bullet is sourced from the customer's published documents, which does two things at once — it makes the bullets unarguable (you're quoting </a:t>
            </a:r>
            <a:r>
              <a:rPr lang="en-IN" i="1" dirty="0">
                <a:effectLst/>
              </a:rPr>
              <a:t>them</a:t>
            </a:r>
            <a:r>
              <a:rPr lang="en-IN" dirty="0">
                <a:effectLst/>
              </a:rPr>
              <a:t> to them), and it demonstrates, sixty seconds in, that this team did primary research rather than imagining a problem. If anyone from </a:t>
            </a:r>
            <a:r>
              <a:rPr lang="en-IN" dirty="0" err="1">
                <a:effectLst/>
              </a:rPr>
              <a:t>MoES</a:t>
            </a:r>
            <a:r>
              <a:rPr lang="en-IN" dirty="0">
                <a:effectLst/>
              </a:rPr>
              <a:t>/NCPOR is on the jury, this box is where you win them: you are describing their Tuesday.</a:t>
            </a:r>
          </a:p>
          <a:p>
            <a:pPr rtl="0"/>
            <a:r>
              <a:rPr lang="en-IN" dirty="0">
                <a:effectLst/>
              </a:rPr>
              <a:t>The five bullets are sequenced as an escalation through the five PS asks — look closely and you'll see the mapping:</a:t>
            </a:r>
          </a:p>
          <a:p>
            <a:pPr lvl="0" rtl="0"/>
            <a:r>
              <a:rPr lang="en-IN" b="1" dirty="0">
                <a:effectLst/>
              </a:rPr>
              <a:t>Bullet 1 (cargo):</a:t>
            </a:r>
            <a:r>
              <a:rPr lang="en-IN" dirty="0">
                <a:effectLst/>
              </a:rPr>
              <a:t> the PDF form AL-1403-O and hand-marked boxes — with the sharpest line on the slide: </a:t>
            </a:r>
            <a:r>
              <a:rPr lang="en-IN" i="1" dirty="0">
                <a:effectLst/>
              </a:rPr>
              <a:t>"that marking IS the tracking system."</a:t>
            </a:r>
            <a:r>
              <a:rPr lang="en-IN" dirty="0">
                <a:effectLst/>
              </a:rPr>
              <a:t> The capitalised IS carries the whole indictment. No sarcasm, just fact — a felt-tip pen is the national Antarctic cargo tracker.</a:t>
            </a:r>
          </a:p>
          <a:p>
            <a:pPr lvl="0" rtl="0"/>
            <a:r>
              <a:rPr lang="en-IN" b="1" dirty="0">
                <a:effectLst/>
              </a:rPr>
              <a:t>Bullet 2 (hazard/planning):</a:t>
            </a:r>
            <a:r>
              <a:rPr lang="en-IN" dirty="0">
                <a:effectLst/>
              </a:rPr>
              <a:t> dangerous goods flagged by </a:t>
            </a:r>
            <a:r>
              <a:rPr lang="en-IN" i="1" dirty="0">
                <a:effectLst/>
              </a:rPr>
              <a:t>e-mail "intimation"</a:t>
            </a:r>
            <a:r>
              <a:rPr lang="en-IN" dirty="0">
                <a:effectLst/>
              </a:rPr>
              <a:t> — the quotation marks around the bureaucratic word are deliberate; it's their vocabulary — and arranged separately at Cape Town. A safety-critical workflow living in inboxes.</a:t>
            </a:r>
          </a:p>
          <a:p>
            <a:pPr lvl="0" rtl="0"/>
            <a:r>
              <a:rPr lang="en-IN" b="1" dirty="0">
                <a:effectLst/>
              </a:rPr>
              <a:t>Bullet 3 (inventory):</a:t>
            </a:r>
            <a:r>
              <a:rPr lang="en-IN" dirty="0">
                <a:effectLst/>
              </a:rPr>
              <a:t> registers and spreadsheets; </a:t>
            </a:r>
            <a:r>
              <a:rPr lang="en-IN" i="1" dirty="0">
                <a:effectLst/>
              </a:rPr>
              <a:t>HQ in Goa cannot see stock levels in real time.</a:t>
            </a:r>
            <a:r>
              <a:rPr lang="en-IN" dirty="0">
                <a:effectLst/>
              </a:rPr>
              <a:t> This is the bullet the burn-rate forecast will later answer.</a:t>
            </a:r>
          </a:p>
          <a:p>
            <a:pPr lvl="0" rtl="0"/>
            <a:r>
              <a:rPr lang="en-IN" b="1" dirty="0">
                <a:effectLst/>
              </a:rPr>
              <a:t>Bullet 4 (capacity/planning):</a:t>
            </a:r>
            <a:r>
              <a:rPr lang="en-IN" dirty="0">
                <a:effectLst/>
              </a:rPr>
              <a:t> the physics — ≤1,500–1,800 kg per Basler flight </a:t>
            </a:r>
            <a:r>
              <a:rPr lang="en-IN" i="1" dirty="0">
                <a:effectLst/>
              </a:rPr>
              <a:t>including people</a:t>
            </a:r>
            <a:r>
              <a:rPr lang="en-IN" dirty="0">
                <a:effectLst/>
              </a:rPr>
              <a:t>, weather-dependent; heavy cargo ship-only; helicopter only when the vessel is near. This bullet is doing double duty: it's a pain point now, and it's the constraint set your solver ingests three slides later. You're planting your own future credibility.</a:t>
            </a:r>
          </a:p>
          <a:p>
            <a:pPr lvl="0" rtl="0"/>
            <a:r>
              <a:rPr lang="en-IN" b="1" dirty="0">
                <a:effectLst/>
              </a:rPr>
              <a:t>Bullet 5 (safety/personnel):</a:t>
            </a:r>
            <a:r>
              <a:rPr lang="en-IN" dirty="0">
                <a:effectLst/>
              </a:rPr>
              <a:t> field parties tracked by radio calls and logbooks; </a:t>
            </a:r>
            <a:r>
              <a:rPr lang="en-IN" i="1" dirty="0">
                <a:effectLst/>
              </a:rPr>
              <a:t>no automatic overdue alarm.</a:t>
            </a:r>
            <a:r>
              <a:rPr lang="en-IN" dirty="0">
                <a:effectLst/>
              </a:rPr>
              <a:t> Deliberately last — it leaves the jury on the human-risk note, which the man-overdue feature will resolve.</a:t>
            </a:r>
          </a:p>
          <a:p>
            <a:pPr rtl="0"/>
            <a:r>
              <a:rPr lang="en-IN" dirty="0">
                <a:effectLst/>
              </a:rPr>
              <a:t>So the slide is secretly a mirror of slide 3: five bullets of "today," five modules of "tomorrow," in the same order. The jury won't consciously notice; they'll just feel that the solution slide "answers" this one. That's structure doing persuasion.</a:t>
            </a:r>
          </a:p>
          <a:p>
            <a:pPr rtl="0"/>
            <a:r>
              <a:rPr lang="en-IN" dirty="0">
                <a:effectLst/>
              </a:rPr>
              <a:t>One more craft point: notice what the box </a:t>
            </a:r>
            <a:r>
              <a:rPr lang="en-IN" i="1" dirty="0">
                <a:effectLst/>
              </a:rPr>
              <a:t>doesn't</a:t>
            </a:r>
            <a:r>
              <a:rPr lang="en-IN" dirty="0">
                <a:effectLst/>
              </a:rPr>
              <a:t> do — it never blames anyone. Every bullet criticizes a tool or an artifact (a form, a marker pen, a spreadsheet, a logbook), never an officer. The unspoken message to any NCPOR judge: </a:t>
            </a:r>
            <a:r>
              <a:rPr lang="en-IN" i="1" dirty="0">
                <a:effectLst/>
              </a:rPr>
              <a:t>your people are heroic; their tools are from 1995.</a:t>
            </a:r>
            <a:r>
              <a:rPr lang="en-IN" dirty="0">
                <a:effectLst/>
              </a:rPr>
              <a:t> That's the only politically safe way to tell a customer their process is broken.</a:t>
            </a:r>
          </a:p>
          <a:p>
            <a:pPr rtl="0"/>
            <a:r>
              <a:rPr lang="en-IN" b="1" dirty="0">
                <a:effectLst/>
              </a:rPr>
              <a:t>How to present it (45–55 seconds)</a:t>
            </a:r>
          </a:p>
          <a:p>
            <a:pPr rtl="0"/>
            <a:r>
              <a:rPr lang="en-IN" dirty="0">
                <a:effectLst/>
              </a:rPr>
              <a:t>This slide has a required delivery shape: </a:t>
            </a:r>
            <a:r>
              <a:rPr lang="en-IN" b="1" dirty="0">
                <a:effectLst/>
              </a:rPr>
              <a:t>number first, silence, then the story.</a:t>
            </a:r>
            <a:endParaRPr lang="en-IN" dirty="0">
              <a:effectLst/>
            </a:endParaRPr>
          </a:p>
          <a:p>
            <a:pPr rtl="0"/>
            <a:r>
              <a:rPr lang="en-IN" b="1" dirty="0">
                <a:effectLst/>
              </a:rPr>
              <a:t>The reveal (10 sec):</a:t>
            </a:r>
            <a:r>
              <a:rPr lang="en-IN" dirty="0">
                <a:effectLst/>
              </a:rPr>
              <a:t> Advance to the slide, say nothing for one full second, then: </a:t>
            </a:r>
            <a:r>
              <a:rPr lang="en-IN" i="1" dirty="0">
                <a:effectLst/>
              </a:rPr>
              <a:t>"Twelve months. That is the cost of one missed crate in India's Antarctic programme."</a:t>
            </a:r>
            <a:r>
              <a:rPr lang="en-IN" dirty="0">
                <a:effectLst/>
              </a:rPr>
              <a:t> Stop again. The pause before and after is not dead air — it's the frame around the number. Do not rush into the explanation; let the jury's "wait, why?" form first, because a question they've silently asked is a question they'll actually listen to the answer to.</a:t>
            </a:r>
          </a:p>
          <a:p>
            <a:pPr rtl="0"/>
            <a:r>
              <a:rPr lang="en-IN" b="1" dirty="0">
                <a:effectLst/>
              </a:rPr>
              <a:t>The mechanism (12 sec):</a:t>
            </a:r>
            <a:r>
              <a:rPr lang="en-IN" dirty="0">
                <a:effectLst/>
              </a:rPr>
              <a:t> </a:t>
            </a:r>
            <a:r>
              <a:rPr lang="en-IN" i="1" dirty="0">
                <a:effectLst/>
              </a:rPr>
              <a:t>"Resupply happens once a year, in a December-to-February window. For the other nine months, fifteen to twenty-five people at Maitri and Bharati live entirely on what already arrived. If something didn't make the ship — it waits a year."</a:t>
            </a:r>
            <a:endParaRPr lang="en-IN" dirty="0">
              <a:effectLst/>
            </a:endParaRPr>
          </a:p>
          <a:p>
            <a:pPr rtl="0"/>
            <a:r>
              <a:rPr lang="en-IN" b="1" dirty="0">
                <a:effectLst/>
              </a:rPr>
              <a:t>The evidence sweep (20 sec):</a:t>
            </a:r>
            <a:r>
              <a:rPr lang="en-IN" dirty="0">
                <a:effectLst/>
              </a:rPr>
              <a:t> Gesture to the box; hit three of the five, not all: </a:t>
            </a:r>
            <a:r>
              <a:rPr lang="en-IN" i="1" dirty="0">
                <a:effectLst/>
              </a:rPr>
              <a:t>"And here is how this runs today — from NCPOR's own published notices. Cargo is tracked by hand-marking boxes — 'Box 1 of 5', in marker pen — that marking IS the tracking system. Goa cannot see station stock levels in real time; inventory lives in registers on the ice. And field parties are tracked by radio calls and logbooks — there is no automatic alarm if a party doesn't come back."</a:t>
            </a:r>
            <a:r>
              <a:rPr lang="en-IN" dirty="0">
                <a:effectLst/>
              </a:rPr>
              <a:t> (Chosen trio: the most visual, the most operational, the most human. Bullets 2 and 4 will get their moment on later slides.)</a:t>
            </a:r>
          </a:p>
          <a:p>
            <a:pPr rtl="0"/>
            <a:r>
              <a:rPr lang="en-IN" b="1" dirty="0">
                <a:effectLst/>
              </a:rPr>
              <a:t>The pivot (5 sec):</a:t>
            </a:r>
            <a:r>
              <a:rPr lang="en-IN" dirty="0">
                <a:effectLst/>
              </a:rPr>
              <a:t> </a:t>
            </a:r>
            <a:r>
              <a:rPr lang="en-IN" i="1" dirty="0">
                <a:effectLst/>
              </a:rPr>
              <a:t>"A once-a-year supply chain, run on paper, at the end of a kilobyte link. Here's what we're building."</a:t>
            </a:r>
            <a:r>
              <a:rPr lang="en-IN" dirty="0">
                <a:effectLst/>
              </a:rPr>
              <a:t> → advance to the solution slide. That pivot sentence is worth memorizing — it compresses the whole problem into eleven words and hands the baton cleanly.</a:t>
            </a:r>
          </a:p>
          <a:p>
            <a:pPr rtl="0"/>
            <a:r>
              <a:rPr lang="en-IN" b="1" dirty="0">
                <a:effectLst/>
              </a:rPr>
              <a:t>Q&amp;A this slide invites</a:t>
            </a:r>
          </a:p>
          <a:p>
            <a:pPr lvl="0" rtl="0"/>
            <a:r>
              <a:rPr lang="en-IN" i="1" dirty="0">
                <a:effectLst/>
              </a:rPr>
              <a:t>"Surely they can fly something in mid-winter if it's critical?"</a:t>
            </a:r>
            <a:r>
              <a:rPr lang="en-IN" dirty="0">
                <a:effectLst/>
              </a:rPr>
              <a:t> → "Mid-winter flights to the interior are near-impossible and internationally exceptional — polar night, extreme cold, no scheduled DROMLAN operations. Emergency options exist on paper via international cooperation, but they're measured in weeks and crores, not days. Planning around them would be planning to fail — which is rather the point of our forecast: see the gap in March, not July."</a:t>
            </a:r>
          </a:p>
          <a:p>
            <a:pPr lvl="0" rtl="0"/>
            <a:r>
              <a:rPr lang="en-IN" i="1" dirty="0">
                <a:effectLst/>
              </a:rPr>
              <a:t>"Is the paper process really this bad, or are you exaggerating?"</a:t>
            </a:r>
            <a:r>
              <a:rPr lang="en-IN" dirty="0">
                <a:effectLst/>
              </a:rPr>
              <a:t> → "Every item in that box is from NCPOR's published expedition notices and downloadable forms — the AL-1403-O form is on their website today. We'd be happy to show the documents." (Have them in the backup folder — screenshots of the form and the box-marking instructions. If a judge asks, </a:t>
            </a:r>
            <a:r>
              <a:rPr lang="en-IN" i="1" dirty="0">
                <a:effectLst/>
              </a:rPr>
              <a:t>showing</a:t>
            </a:r>
            <a:r>
              <a:rPr lang="en-IN" dirty="0">
                <a:effectLst/>
              </a:rPr>
              <a:t> the actual PDF is a mic-drop.)</a:t>
            </a:r>
          </a:p>
          <a:p>
            <a:pPr lvl="0" rtl="0"/>
            <a:r>
              <a:rPr lang="en-IN" i="1" dirty="0">
                <a:effectLst/>
              </a:rPr>
              <a:t>"15–25 people — that's tiny. Why does this need a system?"</a:t>
            </a:r>
            <a:r>
              <a:rPr lang="en-IN" dirty="0">
                <a:effectLst/>
              </a:rPr>
              <a:t> → "Small in headcount, enormous in consequence — the question isn't how many users, it's what a mistake costs. And the pattern scales: the same system serves Himadri, BRO posts, offshore platforms" — a preview of the impact slide, which is fine; previews that get paid off later make the deck feel inevitable.</a:t>
            </a:r>
          </a:p>
          <a:p>
            <a:pPr rtl="0"/>
            <a:r>
              <a:rPr lang="en-IN" dirty="0">
                <a:effectLst/>
              </a:rPr>
              <a:t>Team note: this slide and the "Why it matters" closer are the emotional bookends — the wound and the cure, ideally in the same presenter's voice. And rehearse the opening pause until it stops feeling unbearable; in every run-through, someone will want to fill it. The discipline not to is what makes "12 months" land like a verdict instead of a statistic.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b="1" dirty="0"/>
              <a:t>The headline bar (navy):</a:t>
            </a:r>
            <a:r>
              <a:rPr lang="en-IN" dirty="0"/>
              <a:t> </a:t>
            </a:r>
            <a:r>
              <a:rPr lang="en-IN" i="1" dirty="0"/>
              <a:t>"One append-only event log, three nodes (Goa HQ · vessel · stations). Every screen works with zero connectivity and syncs when a link appears."</a:t>
            </a:r>
            <a:endParaRPr lang="en-IN" dirty="0"/>
          </a:p>
          <a:p>
            <a:pPr rtl="0"/>
            <a:r>
              <a:rPr lang="en-IN" dirty="0"/>
              <a:t>Every word here is doing work, so make sure everyone on the team can unpack it:</a:t>
            </a:r>
          </a:p>
          <a:p>
            <a:pPr lvl="0" rtl="0"/>
            <a:r>
              <a:rPr lang="en-IN" b="1" dirty="0"/>
              <a:t>Event log</a:t>
            </a:r>
            <a:r>
              <a:rPr lang="en-IN" dirty="0"/>
              <a:t> — instead of a normal database where you edit records ("stock of diesel = 480"), you record </a:t>
            </a:r>
            <a:r>
              <a:rPr lang="en-IN" i="1" dirty="0"/>
              <a:t>things that happened</a:t>
            </a:r>
            <a:r>
              <a:rPr lang="en-IN" dirty="0"/>
              <a:t> ("STOCK_CONSUMED: 20 barrels, Maitri, 3 July"). Current stock is calculated by replaying all events. Think of it like a bank passbook: you never erase a line, you add a new transaction. Your balance is the sum.</a:t>
            </a:r>
          </a:p>
          <a:p>
            <a:pPr lvl="0" rtl="0"/>
            <a:r>
              <a:rPr lang="en-IN" b="1" dirty="0"/>
              <a:t>Append-only</a:t>
            </a:r>
            <a:r>
              <a:rPr lang="en-IN" dirty="0"/>
              <a:t> — you can only add to the end, never edit or delete. Why does this matter here? Because Goa, the ship and Maitri are often disconnected from each other. If all three could </a:t>
            </a:r>
            <a:r>
              <a:rPr lang="en-IN" i="1" dirty="0"/>
              <a:t>edit</a:t>
            </a:r>
            <a:r>
              <a:rPr lang="en-IN" dirty="0"/>
              <a:t> the same record, they'd overwrite each other when they reconnect. If all three only </a:t>
            </a:r>
            <a:r>
              <a:rPr lang="en-IN" i="1" dirty="0"/>
              <a:t>append</a:t>
            </a:r>
            <a:r>
              <a:rPr lang="en-IN" dirty="0"/>
              <a:t> their own events, nothing is ever lost — you just merge the passbooks. This one design choice is what makes the whole offline story honest.</a:t>
            </a:r>
          </a:p>
          <a:p>
            <a:pPr lvl="0" rtl="0"/>
            <a:r>
              <a:rPr lang="en-IN" b="1" dirty="0"/>
              <a:t>Three nodes</a:t>
            </a:r>
            <a:r>
              <a:rPr lang="en-IN" dirty="0"/>
              <a:t> — the software runs in three places: NCPOR HQ in Goa (full internet), the chartered vessel (occasional connection), and the stations (almost none). Each has its own local copy.</a:t>
            </a:r>
          </a:p>
          <a:p>
            <a:pPr lvl="0" rtl="0"/>
            <a:r>
              <a:rPr lang="en-IN" b="1" dirty="0"/>
              <a:t>Works with zero connectivity, syncs when a link appears</a:t>
            </a:r>
            <a:r>
              <a:rPr lang="en-IN" dirty="0"/>
              <a:t> — the app never </a:t>
            </a:r>
            <a:r>
              <a:rPr lang="en-IN" i="1" dirty="0"/>
              <a:t>needs</a:t>
            </a:r>
            <a:r>
              <a:rPr lang="en-IN" dirty="0"/>
              <a:t> the internet to function; the internet is a bonus that lets copies catch up with each other.</a:t>
            </a:r>
          </a:p>
          <a:p>
            <a:pPr rtl="0"/>
            <a:r>
              <a:rPr lang="en-IN" b="1" dirty="0"/>
              <a:t>The five rows</a:t>
            </a:r>
            <a:r>
              <a:rPr lang="en-IN" dirty="0"/>
              <a:t> are a deliberate mapping: the problem statement asked for exactly five things — planning, cargo tracking, inventory, personnel movement, emergency response — and this slide answers each one, in the same order, in one line each. The jury should be able to hold the PS in one hand and this slide in the other and tick boxes. That's the design intent: </a:t>
            </a:r>
            <a:r>
              <a:rPr lang="en-IN" i="1" dirty="0"/>
              <a:t>nothing asked is missing, nothing extra is padded.</a:t>
            </a:r>
            <a:endParaRPr lang="en-IN" dirty="0"/>
          </a:p>
          <a:p>
            <a:pPr rtl="0"/>
            <a:r>
              <a:rPr lang="en-IN" dirty="0"/>
              <a:t>Row by row, the term worth being able to explain:</a:t>
            </a:r>
          </a:p>
          <a:p>
            <a:pPr lvl="0" rtl="0"/>
            <a:r>
              <a:rPr lang="en-IN" b="1" dirty="0"/>
              <a:t>Expedition planning</a:t>
            </a:r>
            <a:r>
              <a:rPr lang="en-IN" dirty="0"/>
              <a:t> — "capacity solver" means an algorithm that assigns each cargo item to ship, Basler aircraft, or helicopter, respecting the real limit (a Basler carries only 1,500–1,800 kg </a:t>
            </a:r>
            <a:r>
              <a:rPr lang="en-IN" i="1" dirty="0"/>
              <a:t>including people</a:t>
            </a:r>
            <a:r>
              <a:rPr lang="en-IN" dirty="0"/>
              <a:t>). Crucially, it also says what </a:t>
            </a:r>
            <a:r>
              <a:rPr lang="en-IN" i="1" dirty="0"/>
              <a:t>cannot</a:t>
            </a:r>
            <a:r>
              <a:rPr lang="en-IN" dirty="0"/>
              <a:t> go this season — the most valuable output, because a missed item waits a year.</a:t>
            </a:r>
          </a:p>
          <a:p>
            <a:pPr lvl="0" rtl="0"/>
            <a:r>
              <a:rPr lang="en-IN" b="1" dirty="0"/>
              <a:t>Cargo tracking</a:t>
            </a:r>
            <a:r>
              <a:rPr lang="en-IN" dirty="0"/>
              <a:t> — "custody handover" is each moment a box changes hands: Goa → Mumbai port → Cape Town → vessel → station. A QR scan at each handover means at any moment you know exactly where a crate is and who last touched it. "Hazard-class checklist" covers Jet A1, lithium batteries, chemicals — which by NCPOR rules can't fly and must be arranged separately.</a:t>
            </a:r>
          </a:p>
          <a:p>
            <a:pPr lvl="0" rtl="0"/>
            <a:r>
              <a:rPr lang="en-IN" b="1" dirty="0"/>
              <a:t>Inventory</a:t>
            </a:r>
            <a:r>
              <a:rPr lang="en-IN" dirty="0"/>
              <a:t> — "burn-rate forecast" = consumption speed. If Maitri burns 20 barrels of diesel a week and has 480 left, the system shows the </a:t>
            </a:r>
            <a:r>
              <a:rPr lang="en-IN" i="1" dirty="0"/>
              <a:t>date</a:t>
            </a:r>
            <a:r>
              <a:rPr lang="en-IN" dirty="0"/>
              <a:t> it hits zero and compares it with the next ship's arrival. A date is a decision; a stock count is just a number.</a:t>
            </a:r>
          </a:p>
          <a:p>
            <a:pPr lvl="0" rtl="0"/>
            <a:r>
              <a:rPr lang="en-IN" b="1" dirty="0"/>
              <a:t>Personnel movement</a:t>
            </a:r>
            <a:r>
              <a:rPr lang="en-IN" dirty="0"/>
              <a:t> — "man-overdue alert": a field party logs its departure and expected return; if they don't check back in, the system raises an alarm automatically instead of someone noticing at dinner.</a:t>
            </a:r>
          </a:p>
          <a:p>
            <a:pPr lvl="0" rtl="0"/>
            <a:r>
              <a:rPr lang="en-IN" b="1" dirty="0"/>
              <a:t>Emergency response</a:t>
            </a:r>
            <a:r>
              <a:rPr lang="en-IN" dirty="0"/>
              <a:t> — "MEDEVAC feasibility card": one tap answers "can we evacuate a patient </a:t>
            </a:r>
            <a:r>
              <a:rPr lang="en-IN" i="1" dirty="0"/>
              <a:t>right now</a:t>
            </a:r>
            <a:r>
              <a:rPr lang="en-IN" dirty="0"/>
              <a:t>?" by combining nearest airstrip, flight window, and ship position — offline.</a:t>
            </a:r>
          </a:p>
          <a:p>
            <a:pPr rtl="0"/>
            <a:r>
              <a:rPr lang="en-IN" b="1" dirty="0"/>
              <a:t>How to present it (60–75 seconds)</a:t>
            </a:r>
          </a:p>
          <a:p>
            <a:pPr rtl="0"/>
            <a:r>
              <a:rPr lang="en-IN" dirty="0"/>
              <a:t>Don't read the rows. The jury can read faster than you speak. Use this structure:</a:t>
            </a:r>
          </a:p>
          <a:p>
            <a:pPr rtl="0"/>
            <a:r>
              <a:rPr lang="en-IN" b="1" dirty="0"/>
              <a:t>Open with the bar (15 sec):</a:t>
            </a:r>
            <a:r>
              <a:rPr lang="en-IN" dirty="0"/>
              <a:t> </a:t>
            </a:r>
            <a:r>
              <a:rPr lang="en-IN" i="1" dirty="0"/>
              <a:t>"Our entire solution is one sentence: one append-only event log, running in three places — Goa, the ship, the stations. Every screen works with no internet, and syncs whenever a link appears. Everything else on this slide is a view built on that log."</a:t>
            </a:r>
            <a:endParaRPr lang="en-IN" dirty="0"/>
          </a:p>
          <a:p>
            <a:pPr rtl="0"/>
            <a:r>
              <a:rPr lang="en-IN" b="1" dirty="0"/>
              <a:t>Then the mapping claim (10 sec):</a:t>
            </a:r>
            <a:r>
              <a:rPr lang="en-IN" dirty="0"/>
              <a:t> </a:t>
            </a:r>
            <a:r>
              <a:rPr lang="en-IN" i="1" dirty="0"/>
              <a:t>"The problem statement asks for exactly five things. These are the five, in the PS's own order — one module each."</a:t>
            </a:r>
            <a:r>
              <a:rPr lang="en-IN" dirty="0"/>
              <a:t> Gesture down the left column. This sentence alone signals discipline.</a:t>
            </a:r>
          </a:p>
          <a:p>
            <a:pPr rtl="0"/>
            <a:r>
              <a:rPr lang="en-IN" b="1" dirty="0"/>
              <a:t>Then pick TWO rows to say aloud — not five.</a:t>
            </a:r>
            <a:r>
              <a:rPr lang="en-IN" dirty="0"/>
              <a:t> Best picks: Inventory (</a:t>
            </a:r>
            <a:r>
              <a:rPr lang="en-IN" i="1" dirty="0"/>
              <a:t>"we don't just count stock — we show the date diesel runs out versus the date the ship arrives"</a:t>
            </a:r>
            <a:r>
              <a:rPr lang="en-IN" dirty="0"/>
              <a:t>) and Personnel (</a:t>
            </a:r>
            <a:r>
              <a:rPr lang="en-IN" i="1" dirty="0"/>
              <a:t>"a field party that doesn't return on time triggers an alarm automatically"</a:t>
            </a:r>
            <a:r>
              <a:rPr lang="en-IN" dirty="0"/>
              <a:t>). These are the two with life-and-death stakes; cargo and planning will get their moment on later slides anyway.</a:t>
            </a:r>
          </a:p>
          <a:p>
            <a:pPr rtl="0"/>
            <a:r>
              <a:rPr lang="en-IN" b="1" dirty="0"/>
              <a:t>Close with the bridge (10 sec):</a:t>
            </a:r>
            <a:r>
              <a:rPr lang="en-IN" dirty="0"/>
              <a:t> </a:t>
            </a:r>
            <a:r>
              <a:rPr lang="en-IN" i="1" dirty="0"/>
              <a:t>"How one log serves all five — that's the next slide."</a:t>
            </a:r>
            <a:r>
              <a:rPr lang="en-IN" dirty="0"/>
              <a:t> This makes the architecture slide feel pulled, not pushed.</a:t>
            </a:r>
          </a:p>
          <a:p>
            <a:pPr rtl="0"/>
            <a:r>
              <a:rPr lang="en-IN" b="1" dirty="0"/>
              <a:t>Q&amp;A this slide invites — be ready</a:t>
            </a:r>
          </a:p>
          <a:p>
            <a:pPr lvl="0" rtl="0"/>
            <a:r>
              <a:rPr lang="en-IN" i="1" dirty="0"/>
              <a:t>"Why an event log instead of a normal database?"</a:t>
            </a:r>
            <a:r>
              <a:rPr lang="en-IN" dirty="0"/>
              <a:t> → "Because disconnected nodes can never overwrite each other; merging appended events is safe, merging edits is not. And we get a free audit trail — every barrel's history."</a:t>
            </a:r>
          </a:p>
          <a:p>
            <a:pPr lvl="0" rtl="0"/>
            <a:r>
              <a:rPr lang="en-IN" i="1" dirty="0"/>
              <a:t>"What if the log grows huge?"</a:t>
            </a:r>
            <a:r>
              <a:rPr lang="en-IN" dirty="0"/>
              <a:t> → "A full season is ~5,400 events, a few MB. Antarctica's scale is small in data terms; it's the </a:t>
            </a:r>
            <a:r>
              <a:rPr lang="en-IN" i="1" dirty="0"/>
              <a:t>bandwidth</a:t>
            </a:r>
            <a:r>
              <a:rPr lang="en-IN" dirty="0"/>
              <a:t> that's scarce, and daily deltas are a few KB."</a:t>
            </a:r>
          </a:p>
          <a:p>
            <a:pPr lvl="0" rtl="0"/>
            <a:r>
              <a:rPr lang="en-IN" i="1" dirty="0"/>
              <a:t>"Isn't this just five separate apps?"</a:t>
            </a:r>
            <a:r>
              <a:rPr lang="en-IN" dirty="0"/>
              <a:t> → "No — one data structure, five screens. A cargo scan, a stock entry and a check-in are all just events with different types."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This is the architecture slide — where the jury tests whether the team has real engineering depth or is reciting buzzwords. It's the slide most likely to draw a technical question, so everyone should understand every box. Let me decode it layer by layer, then give you the script.</a:t>
            </a:r>
          </a:p>
          <a:p>
            <a:pPr rtl="0"/>
            <a:r>
              <a:rPr lang="en-IN" b="1" dirty="0"/>
              <a:t>What the slide shows</a:t>
            </a:r>
          </a:p>
          <a:p>
            <a:pPr rtl="0"/>
            <a:r>
              <a:rPr lang="en-IN" b="1" dirty="0"/>
              <a:t>Three boxes = three physical places the software runs.</a:t>
            </a:r>
            <a:r>
              <a:rPr lang="en-IN" dirty="0"/>
              <a:t> Notice the visual cue: HQ is white (full connectivity), vessel and stations are ice-blue (degraded connectivity). The arrows show the direction cargo and people flow — Goa → ship → ice.</a:t>
            </a:r>
          </a:p>
          <a:p>
            <a:pPr rtl="0"/>
            <a:r>
              <a:rPr lang="en-IN" b="1" dirty="0"/>
              <a:t>Box 1: HQ — NCPOR Goa.</a:t>
            </a:r>
            <a:r>
              <a:rPr lang="en-IN" dirty="0"/>
              <a:t> The "heavy" end, because it has real internet and real servers:</a:t>
            </a:r>
          </a:p>
          <a:p>
            <a:pPr lvl="0" rtl="0"/>
            <a:r>
              <a:rPr lang="en-IN" i="1" dirty="0"/>
              <a:t>PostgreSQL + </a:t>
            </a:r>
            <a:r>
              <a:rPr lang="en-IN" i="1" dirty="0" err="1"/>
              <a:t>FastAPI</a:t>
            </a:r>
            <a:r>
              <a:rPr lang="en-IN" dirty="0"/>
              <a:t> — a proper server database and a Python web backend. This is where the master copy of everything eventually lands.</a:t>
            </a:r>
          </a:p>
          <a:p>
            <a:pPr lvl="0" rtl="0"/>
            <a:r>
              <a:rPr lang="en-IN" i="1" dirty="0"/>
              <a:t>Season planner (OR-Tools ILP)</a:t>
            </a:r>
            <a:r>
              <a:rPr lang="en-IN" dirty="0"/>
              <a:t> — the capacity solver lives here, and only here. ILP = Integer Linear Programming: you give it every cargo item's weight, volume, hazard class and deadline, plus the vehicles' limits, and it computes a legal assignment — or proves none exists. It runs in Goa because it needs computing power and because planning happens before the season, when everyone is still connected.</a:t>
            </a:r>
          </a:p>
          <a:p>
            <a:pPr lvl="0" rtl="0"/>
            <a:r>
              <a:rPr lang="en-IN" i="1" dirty="0"/>
              <a:t>Dashboards, </a:t>
            </a:r>
            <a:r>
              <a:rPr lang="en-IN" i="1" dirty="0" err="1"/>
              <a:t>MoES</a:t>
            </a:r>
            <a:r>
              <a:rPr lang="en-IN" i="1" dirty="0"/>
              <a:t> reporting</a:t>
            </a:r>
            <a:r>
              <a:rPr lang="en-IN" dirty="0"/>
              <a:t> — the "control tower" screens for officials.</a:t>
            </a:r>
          </a:p>
          <a:p>
            <a:pPr rtl="0"/>
            <a:r>
              <a:rPr lang="en-IN" b="1" dirty="0"/>
              <a:t>Box 2: Vessel.</a:t>
            </a:r>
            <a:r>
              <a:rPr lang="en-IN" dirty="0"/>
              <a:t> Deliberately the thinnest node — just a laptop running the app with a local SQLite file. Its job: scan cargo as it's loaded/unloaded, log personnel embarking/disembarking. "Intermittent link" — a ship gets satellite connectivity sometimes, so it syncs opportunistically.</a:t>
            </a:r>
          </a:p>
          <a:p>
            <a:pPr rtl="0"/>
            <a:r>
              <a:rPr lang="en-IN" b="1" dirty="0"/>
              <a:t>Box 3: Stations.</a:t>
            </a:r>
            <a:r>
              <a:rPr lang="en-IN" dirty="0"/>
              <a:t> The harshest environment, so the most self-sufficient design:</a:t>
            </a:r>
          </a:p>
          <a:p>
            <a:pPr lvl="0" rtl="0"/>
            <a:r>
              <a:rPr lang="en-IN" i="1" dirty="0"/>
              <a:t>React PWA + </a:t>
            </a:r>
            <a:r>
              <a:rPr lang="en-IN" i="1" dirty="0" err="1"/>
              <a:t>IndexedDB</a:t>
            </a:r>
            <a:r>
              <a:rPr lang="en-IN" dirty="0"/>
              <a:t> — a web app that installs like a native app and stores data inside the browser, so it runs on any laptop or phone at the station with nothing else installed.</a:t>
            </a:r>
          </a:p>
          <a:p>
            <a:pPr lvl="0" rtl="0"/>
            <a:r>
              <a:rPr lang="en-IN" i="1" dirty="0"/>
              <a:t>SQLite event log</a:t>
            </a:r>
            <a:r>
              <a:rPr lang="en-IN" dirty="0"/>
              <a:t> — the station's own copy of the passbook.</a:t>
            </a:r>
          </a:p>
          <a:p>
            <a:pPr lvl="0" rtl="0"/>
            <a:r>
              <a:rPr lang="en-IN" i="1" dirty="0"/>
              <a:t>"KB-scale satellite link"</a:t>
            </a:r>
            <a:r>
              <a:rPr lang="en-IN" dirty="0"/>
              <a:t> — the constraint that shaped everything: kilobytes, not megabytes. This phrase is your evidence that the architecture came from the problem, not from a tutorial.</a:t>
            </a:r>
          </a:p>
          <a:p>
            <a:pPr rtl="0"/>
            <a:r>
              <a:rPr lang="en-IN" b="1" dirty="0"/>
              <a:t>The navy bar: the shared event log.</a:t>
            </a:r>
            <a:r>
              <a:rPr lang="en-IN" dirty="0"/>
              <a:t> This is the one idea uniting all three boxes. The schema line — </a:t>
            </a:r>
            <a:r>
              <a:rPr lang="en-IN" sz="1200" kern="1200" dirty="0">
                <a:solidFill>
                  <a:schemeClr val="tx1"/>
                </a:solidFill>
                <a:latin typeface="+mn-lt"/>
                <a:ea typeface="+mn-ea"/>
                <a:cs typeface="+mn-cs"/>
              </a:rPr>
              <a:t>events(</a:t>
            </a:r>
            <a:r>
              <a:rPr lang="en-IN" sz="1200" kern="1200" dirty="0" err="1">
                <a:solidFill>
                  <a:schemeClr val="tx1"/>
                </a:solidFill>
                <a:latin typeface="+mn-lt"/>
                <a:ea typeface="+mn-ea"/>
                <a:cs typeface="+mn-cs"/>
              </a:rPr>
              <a:t>node_id</a:t>
            </a:r>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seq</a:t>
            </a:r>
            <a:r>
              <a:rPr lang="en-IN" sz="1200" kern="1200" dirty="0">
                <a:solidFill>
                  <a:schemeClr val="tx1"/>
                </a:solidFill>
                <a:latin typeface="+mn-lt"/>
                <a:ea typeface="+mn-ea"/>
                <a:cs typeface="+mn-cs"/>
              </a:rPr>
              <a:t>, priority, type, subject, payload)</a:t>
            </a:r>
            <a:r>
              <a:rPr lang="en-IN" dirty="0"/>
              <a:t> — is worth being able to explain field by field:</a:t>
            </a:r>
          </a:p>
          <a:p>
            <a:pPr lvl="0" rtl="0"/>
            <a:r>
              <a:rPr lang="en-IN" sz="1200" kern="1200" dirty="0" err="1">
                <a:solidFill>
                  <a:schemeClr val="tx1"/>
                </a:solidFill>
                <a:latin typeface="+mn-lt"/>
                <a:ea typeface="+mn-ea"/>
                <a:cs typeface="+mn-cs"/>
              </a:rPr>
              <a:t>node_id</a:t>
            </a:r>
            <a:r>
              <a:rPr lang="en-IN" dirty="0"/>
              <a:t> — who wrote the event (Goa? Maitri?)</a:t>
            </a:r>
          </a:p>
          <a:p>
            <a:pPr lvl="0" rtl="0"/>
            <a:r>
              <a:rPr lang="en-IN" sz="1200" kern="1200" dirty="0" err="1">
                <a:solidFill>
                  <a:schemeClr val="tx1"/>
                </a:solidFill>
                <a:latin typeface="+mn-lt"/>
                <a:ea typeface="+mn-ea"/>
                <a:cs typeface="+mn-cs"/>
              </a:rPr>
              <a:t>seq</a:t>
            </a:r>
            <a:r>
              <a:rPr lang="en-IN" dirty="0"/>
              <a:t> — that node's own counter: its 1st, 2nd, 3rd event…</a:t>
            </a:r>
          </a:p>
          <a:p>
            <a:pPr lvl="0" rtl="0"/>
            <a:r>
              <a:rPr lang="en-IN" sz="1200" kern="1200" dirty="0">
                <a:solidFill>
                  <a:schemeClr val="tx1"/>
                </a:solidFill>
                <a:latin typeface="+mn-lt"/>
                <a:ea typeface="+mn-ea"/>
                <a:cs typeface="+mn-cs"/>
              </a:rPr>
              <a:t>priority</a:t>
            </a:r>
            <a:r>
              <a:rPr lang="en-IN" dirty="0"/>
              <a:t> — how urgent it is to transmit (this powers the sync trick below)</a:t>
            </a:r>
          </a:p>
          <a:p>
            <a:pPr lvl="0" rtl="0"/>
            <a:r>
              <a:rPr lang="en-IN" sz="1200" kern="1200" dirty="0">
                <a:solidFill>
                  <a:schemeClr val="tx1"/>
                </a:solidFill>
                <a:latin typeface="+mn-lt"/>
                <a:ea typeface="+mn-ea"/>
                <a:cs typeface="+mn-cs"/>
              </a:rPr>
              <a:t>type</a:t>
            </a:r>
            <a:r>
              <a:rPr lang="en-IN" dirty="0"/>
              <a:t> — one of 18 kinds: CARGO_SCANNED, STOCK_CONSUMED, PARTY_OVERDUE…</a:t>
            </a:r>
          </a:p>
          <a:p>
            <a:pPr lvl="0" rtl="0"/>
            <a:r>
              <a:rPr lang="en-IN" sz="1200" kern="1200" dirty="0">
                <a:solidFill>
                  <a:schemeClr val="tx1"/>
                </a:solidFill>
                <a:latin typeface="+mn-lt"/>
                <a:ea typeface="+mn-ea"/>
                <a:cs typeface="+mn-cs"/>
              </a:rPr>
              <a:t>subject</a:t>
            </a:r>
            <a:r>
              <a:rPr lang="en-IN" dirty="0"/>
              <a:t> + </a:t>
            </a:r>
            <a:r>
              <a:rPr lang="en-IN" sz="1200" kern="1200" dirty="0">
                <a:solidFill>
                  <a:schemeClr val="tx1"/>
                </a:solidFill>
                <a:latin typeface="+mn-lt"/>
                <a:ea typeface="+mn-ea"/>
                <a:cs typeface="+mn-cs"/>
              </a:rPr>
              <a:t>payload</a:t>
            </a:r>
            <a:r>
              <a:rPr lang="en-IN" dirty="0"/>
              <a:t> — what it's about and the details</a:t>
            </a:r>
          </a:p>
          <a:p>
            <a:pPr rtl="0"/>
            <a:r>
              <a:rPr lang="en-IN" dirty="0"/>
              <a:t>And the two clauses after it are the philosophy: </a:t>
            </a:r>
            <a:r>
              <a:rPr lang="en-IN" i="1" dirty="0"/>
              <a:t>state = replay of the log</a:t>
            </a:r>
            <a:r>
              <a:rPr lang="en-IN" dirty="0"/>
              <a:t> (current stock isn't stored anywhere — it's computed by replaying events, like a bank balance from a passbook) and </a:t>
            </a:r>
            <a:r>
              <a:rPr lang="en-IN" i="1" dirty="0"/>
              <a:t>corrections are new events, never edits</a:t>
            </a:r>
            <a:r>
              <a:rPr lang="en-IN" dirty="0"/>
              <a:t> (a mistake is fixed by appending a correction, so the audit trail is perfect — which a government evaluator will love).</a:t>
            </a:r>
          </a:p>
          <a:p>
            <a:pPr rtl="0"/>
            <a:r>
              <a:rPr lang="en-IN" b="1" dirty="0"/>
              <a:t>The bottom line — the two cleverest sentences on the slide:</a:t>
            </a:r>
            <a:endParaRPr lang="en-IN" dirty="0"/>
          </a:p>
          <a:p>
            <a:pPr lvl="0" rtl="0"/>
            <a:r>
              <a:rPr lang="en-IN" i="1" dirty="0"/>
              <a:t>"Sync = 'send me everything from node X after sequence N' — no clock agreement needed."</a:t>
            </a:r>
            <a:r>
              <a:rPr lang="en-IN" dirty="0"/>
              <a:t> Normal sync systems compare timestamps — but clocks drift, and on machines that are offline for months, badly. Here, sequence numbers replace clocks: Goa remembers "I have Maitri's events up to #4,821," and when a link appears it just asks for #4,822 onward. Trivially simple, impossible to get wrong. If a jury member knows distributed systems, this line wins the slide.</a:t>
            </a:r>
          </a:p>
          <a:p>
            <a:pPr lvl="0" rtl="0"/>
            <a:r>
              <a:rPr lang="en-IN" i="1" dirty="0"/>
              <a:t>"Priority queue: safety &amp; personnel events cross a 15-minute Iridium window before inventory noise; bulk sync waits for VSAT."</a:t>
            </a:r>
            <a:r>
              <a:rPr lang="en-IN" dirty="0"/>
              <a:t> Iridium = the tiny, slow, always-there satellite channel; VSAT = the bigger dish that works occasionally. When you only have 15 minutes of thin pipe, you don't send everything — you send PARTY_OVERDUE before "consumed 3 kg of rice." That's what the </a:t>
            </a:r>
            <a:r>
              <a:rPr lang="en-IN" sz="1200" kern="1200" dirty="0">
                <a:solidFill>
                  <a:schemeClr val="tx1"/>
                </a:solidFill>
                <a:latin typeface="+mn-lt"/>
                <a:ea typeface="+mn-ea"/>
                <a:cs typeface="+mn-cs"/>
              </a:rPr>
              <a:t>priority</a:t>
            </a:r>
            <a:r>
              <a:rPr lang="en-IN" dirty="0"/>
              <a:t> field is for. This is "bandwidth-aware sync" made concrete.</a:t>
            </a:r>
          </a:p>
          <a:p>
            <a:pPr rtl="0"/>
            <a:r>
              <a:rPr lang="en-IN" b="1" dirty="0"/>
              <a:t>How to present it (60–75 seconds)</a:t>
            </a:r>
          </a:p>
          <a:p>
            <a:pPr rtl="0"/>
            <a:r>
              <a:rPr lang="en-IN" dirty="0"/>
              <a:t>Walk it left to right, then drop to the bar, then land on the bottom line — the slide is built for exactly that eye movement.</a:t>
            </a:r>
          </a:p>
          <a:p>
            <a:pPr rtl="0"/>
            <a:r>
              <a:rPr lang="en-IN" b="1" dirty="0"/>
              <a:t>Open (10 sec):</a:t>
            </a:r>
            <a:r>
              <a:rPr lang="en-IN" dirty="0"/>
              <a:t> </a:t>
            </a:r>
            <a:r>
              <a:rPr lang="en-IN" i="1" dirty="0"/>
              <a:t>"Three places run this software — Goa with full internet, the ship with occasional internet, and the stations with almost none. Same app, three postures."</a:t>
            </a:r>
            <a:endParaRPr lang="en-IN" dirty="0"/>
          </a:p>
          <a:p>
            <a:pPr rtl="0"/>
            <a:r>
              <a:rPr lang="en-IN" b="1" dirty="0"/>
              <a:t>The boxes (20 sec):</a:t>
            </a:r>
            <a:r>
              <a:rPr lang="en-IN" dirty="0"/>
              <a:t> </a:t>
            </a:r>
            <a:r>
              <a:rPr lang="en-IN" i="1" dirty="0"/>
              <a:t>"Goa is the brain — the database, the dashboards, and the capacity solver that assigns cargo to ship or aircraft. The vessel is just a laptop that scans what crosses its deck. The station is a web app on any phone or laptop — because you can't ship IT infrastructure to Antarctica, and the link there is measured in kilobytes."</a:t>
            </a:r>
            <a:endParaRPr lang="en-IN" dirty="0"/>
          </a:p>
          <a:p>
            <a:pPr rtl="0"/>
            <a:r>
              <a:rPr lang="en-IN" b="1" dirty="0"/>
              <a:t>The bar (15 sec):</a:t>
            </a:r>
            <a:r>
              <a:rPr lang="en-IN" dirty="0"/>
              <a:t> </a:t>
            </a:r>
            <a:r>
              <a:rPr lang="en-IN" i="1" dirty="0"/>
              <a:t>"What unites them is one table — an event log. Nothing is ever edited; things that happen get appended. Current stock is computed by replaying events, like a bank balance from a passbook. That also means every barrel has a complete, tamper-evident history — for free."</a:t>
            </a:r>
            <a:endParaRPr lang="en-IN" dirty="0"/>
          </a:p>
          <a:p>
            <a:pPr rtl="0"/>
            <a:r>
              <a:rPr lang="en-IN" b="1" dirty="0"/>
              <a:t>The kicker (15 sec):</a:t>
            </a:r>
            <a:r>
              <a:rPr lang="en-IN" dirty="0"/>
              <a:t> </a:t>
            </a:r>
            <a:r>
              <a:rPr lang="en-IN" i="1" dirty="0"/>
              <a:t>"Sync needs no clock agreement — each node just asks 'give me everything after event N.' And when the link is a 15-minute Iridium window, safety events cross first; inventory noise waits for the big dish."</a:t>
            </a:r>
            <a:r>
              <a:rPr lang="en-IN" dirty="0"/>
              <a:t> Then stop. Don't fill the silence — this is the line you want hanging in the room.</a:t>
            </a:r>
          </a:p>
          <a:p>
            <a:pPr rtl="0"/>
            <a:r>
              <a:rPr lang="en-IN" b="1" dirty="0"/>
              <a:t>Q&amp;A this slide invites</a:t>
            </a:r>
          </a:p>
          <a:p>
            <a:pPr lvl="0" rtl="0"/>
            <a:r>
              <a:rPr lang="en-IN" i="1" dirty="0"/>
              <a:t>"Why SQLite at the edge? Isn't that a toy database?"</a:t>
            </a:r>
            <a:r>
              <a:rPr lang="en-IN" dirty="0"/>
              <a:t> → "SQLite is the most deployed database on Earth — it's in every phone. And the whole database is one file, which means a USB stick is a valid backup </a:t>
            </a:r>
            <a:r>
              <a:rPr lang="en-IN" i="1" dirty="0"/>
              <a:t>and</a:t>
            </a:r>
            <a:r>
              <a:rPr lang="en-IN" dirty="0"/>
              <a:t> a valid sync method. On the ice, that's a feature."</a:t>
            </a:r>
          </a:p>
          <a:p>
            <a:pPr lvl="0" rtl="0"/>
            <a:r>
              <a:rPr lang="en-IN" i="1" dirty="0"/>
              <a:t>"What if two nodes create conflicting events?"</a:t>
            </a:r>
            <a:r>
              <a:rPr lang="en-IN" dirty="0"/>
              <a:t> → "They can't conflict — each appends to its own sequence. Two claims about the same stock are both preserved; a physical STOCK_COUNTED audit event settles which projection is right."</a:t>
            </a:r>
          </a:p>
          <a:p>
            <a:pPr lvl="0" rtl="0"/>
            <a:r>
              <a:rPr lang="en-IN" i="1" dirty="0"/>
              <a:t>"Why not put it all in the cloud?"</a:t>
            </a:r>
            <a:r>
              <a:rPr lang="en-IN" dirty="0"/>
              <a:t> → "The cloud is the one place a station can't reach for nine months. HQ syncs to cloud if NCPOR wants — but the system's correctness can't depend on it."</a:t>
            </a:r>
          </a:p>
          <a:p>
            <a:pPr lvl="0" rtl="0"/>
            <a:r>
              <a:rPr lang="en-IN" i="1" dirty="0"/>
              <a:t>"18 event types — why not more/fewer?"</a:t>
            </a:r>
            <a:r>
              <a:rPr lang="en-IN" dirty="0"/>
              <a:t> → "They cover the five modules; adding a type is one row in a registry, not a schema change. That's the point of the payload field."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This is the innovation slide — and it's the one that wins or loses the Innovation 20 marks, because it does the thing most teams never do: it </a:t>
            </a:r>
            <a:r>
              <a:rPr lang="en-IN" i="1" dirty="0"/>
              <a:t>proves the gap exists</a:t>
            </a:r>
            <a:r>
              <a:rPr lang="en-IN" dirty="0"/>
              <a:t> before claiming to fill it. The subtitle is the thesis: "Innovation is a claimed delta, not a feature list." A jury hears thirty teams say "our solution is innovative"; almost none show what they compared themselves against. This slide is structured as an argument: four alternatives eliminated, then one sentence stating exactly what's new.</a:t>
            </a:r>
          </a:p>
          <a:p>
            <a:pPr rtl="0"/>
            <a:r>
              <a:rPr lang="en-IN" b="1" dirty="0"/>
              <a:t>Understanding the table — why these four rows, in this order</a:t>
            </a:r>
          </a:p>
          <a:p>
            <a:pPr rtl="0"/>
            <a:r>
              <a:rPr lang="en-IN" dirty="0"/>
              <a:t>The rows aren't random; they're the four directions a </a:t>
            </a:r>
            <a:r>
              <a:rPr lang="en-IN" dirty="0" err="1"/>
              <a:t>skeptical</a:t>
            </a:r>
            <a:r>
              <a:rPr lang="en-IN" dirty="0"/>
              <a:t> judge's mind will go, pre-empted in escalating order:</a:t>
            </a:r>
          </a:p>
          <a:p>
            <a:pPr rtl="0"/>
            <a:r>
              <a:rPr lang="en-IN" b="1" dirty="0"/>
              <a:t>Row 1 — NCPOR current practice.</a:t>
            </a:r>
            <a:r>
              <a:rPr lang="en-IN" dirty="0"/>
              <a:t> The status quo. The judge's unspoken question: </a:t>
            </a:r>
            <a:r>
              <a:rPr lang="en-IN" i="1" dirty="0"/>
              <a:t>"Is this even a real problem, or are you inventing one?"</a:t>
            </a:r>
            <a:r>
              <a:rPr lang="en-IN" dirty="0"/>
              <a:t> The row answers with specifics from NCPOR's own published documents — the AL-1403-O PDF form, hand-marked boxes ("44 ISEA, Box 1 of 5"), paper registers. The killer phrase is </a:t>
            </a:r>
            <a:r>
              <a:rPr lang="en-IN" i="1" dirty="0"/>
              <a:t>"knowledge lives in a few officers' inboxes"</a:t>
            </a:r>
            <a:r>
              <a:rPr lang="en-IN" dirty="0"/>
              <a:t> — it names the real risk: the system today is a handful of experienced people, and when they transfer or retire, the institutional memory goes with them. Note the strategic subtlety: this row criticizes the </a:t>
            </a:r>
            <a:r>
              <a:rPr lang="en-IN" i="1" dirty="0"/>
              <a:t>tools</a:t>
            </a:r>
            <a:r>
              <a:rPr lang="en-IN" dirty="0"/>
              <a:t>, never the </a:t>
            </a:r>
            <a:r>
              <a:rPr lang="en-IN" i="1" dirty="0"/>
              <a:t>people</a:t>
            </a:r>
            <a:r>
              <a:rPr lang="en-IN" dirty="0"/>
              <a:t>. If an NCPOR officer is on the jury, they'll nod, because you've described their reality respectfully.</a:t>
            </a:r>
          </a:p>
          <a:p>
            <a:pPr rtl="0"/>
            <a:r>
              <a:rPr lang="en-IN" b="1" dirty="0"/>
              <a:t>Row 2 — Enterprise ERP/WMS.</a:t>
            </a:r>
            <a:r>
              <a:rPr lang="en-IN" dirty="0"/>
              <a:t> The judge's next thought: </a:t>
            </a:r>
            <a:r>
              <a:rPr lang="en-IN" i="1" dirty="0"/>
              <a:t>"Why not just buy SAP?"</a:t>
            </a:r>
            <a:r>
              <a:rPr lang="en-IN" dirty="0"/>
              <a:t> Three answers packed in one line: those systems assume always-on connectivity (a station has kilobytes); they assume barcode/scanner infrastructure that doesn't exist on the ice; and they're built around procurement workflows (purchase orders, invoices), not expedition workflows (custody handovers, winter-over burn rates, field-party safety). "Procurement-centric, not expedition-centric" is the phrase to memorize — it's the whole argument in four words.</a:t>
            </a:r>
          </a:p>
          <a:p>
            <a:pPr rtl="0"/>
            <a:r>
              <a:rPr lang="en-IN" b="1" dirty="0"/>
              <a:t>Row 3 — Courier trackers / IoT tags.</a:t>
            </a:r>
            <a:r>
              <a:rPr lang="en-IN" dirty="0"/>
              <a:t> The next thought: </a:t>
            </a:r>
            <a:r>
              <a:rPr lang="en-IN" i="1" dirty="0"/>
              <a:t>"Why not GPS tags on the crates, like FedEx?"</a:t>
            </a:r>
            <a:r>
              <a:rPr lang="en-IN" dirty="0"/>
              <a:t> Two-part answer: tags need network coverage, and there is none between Cape Town and the ice; and even where they work, they answer "where is it?" — not "how fast are we consuming it?" or "is the field party back?" Location is the least of NCPOR's problems; consumption and safety are.</a:t>
            </a:r>
          </a:p>
          <a:p>
            <a:pPr rtl="0"/>
            <a:r>
              <a:rPr lang="en-IN" b="1" dirty="0"/>
              <a:t>Row 4 — Other polar programmes.</a:t>
            </a:r>
            <a:r>
              <a:rPr lang="en-IN" dirty="0"/>
              <a:t> The most sophisticated escape route: </a:t>
            </a:r>
            <a:r>
              <a:rPr lang="en-IN" i="1" dirty="0"/>
              <a:t>"Surely the Americans or Australians solved this — copy them."</a:t>
            </a:r>
            <a:r>
              <a:rPr lang="en-IN" dirty="0"/>
              <a:t> Answer: COMNAP members (the council of national Antarctic programmes) each built internal, bespoke systems that are not products — there is nothing India can procure off a shelf. This row quietly does double duty: it proves you researched internationally, and it reframes </a:t>
            </a:r>
            <a:r>
              <a:rPr lang="en-IN" dirty="0" err="1"/>
              <a:t>PolarOS</a:t>
            </a:r>
            <a:r>
              <a:rPr lang="en-IN" dirty="0"/>
              <a:t> as import substitution — building sovereign capability, which lands well with any government jury.</a:t>
            </a:r>
          </a:p>
          <a:p>
            <a:pPr rtl="0"/>
            <a:r>
              <a:rPr lang="en-IN" dirty="0"/>
              <a:t>Read the table diagonally and a pattern emerges — each alternative fails on a </a:t>
            </a:r>
            <a:r>
              <a:rPr lang="en-IN" i="1" dirty="0"/>
              <a:t>different</a:t>
            </a:r>
            <a:r>
              <a:rPr lang="en-IN" dirty="0"/>
              <a:t> axis: no digital trail (row 1), no offline capability (row 2), no consumption/safety view (row 3), no availability (row 4). Your solution is defined precisely by the union of those four gaps. That's what makes the green box credible rather than boastful.</a:t>
            </a:r>
          </a:p>
          <a:p>
            <a:pPr rtl="0"/>
            <a:r>
              <a:rPr lang="en-IN" b="1" dirty="0"/>
              <a:t>The green box — anatomy of the one sentence</a:t>
            </a:r>
          </a:p>
          <a:p>
            <a:pPr rtl="0"/>
            <a:r>
              <a:rPr lang="en-IN" i="1" dirty="0"/>
              <a:t>"An offline-first, priority-synced event log that turns a paper supply chain into forecasts — the date fuel runs out, the flight a crate must catch, the party that is overdue — months before anyone can act otherwise."</a:t>
            </a:r>
            <a:endParaRPr lang="en-IN" dirty="0"/>
          </a:p>
          <a:p>
            <a:pPr rtl="0"/>
            <a:r>
              <a:rPr lang="en-IN" dirty="0"/>
              <a:t>It's engineered in three parts:</a:t>
            </a:r>
          </a:p>
          <a:p>
            <a:pPr lvl="0" rtl="0"/>
            <a:r>
              <a:rPr lang="en-IN" b="1" dirty="0"/>
              <a:t>The mechanism</a:t>
            </a:r>
            <a:r>
              <a:rPr lang="en-IN" dirty="0"/>
              <a:t> (offline-first, priority-synced event log) — answers rows 2 and 3</a:t>
            </a:r>
          </a:p>
          <a:p>
            <a:pPr lvl="0" rtl="0"/>
            <a:r>
              <a:rPr lang="en-IN" b="1" dirty="0"/>
              <a:t>The transformation</a:t>
            </a:r>
            <a:r>
              <a:rPr lang="en-IN" dirty="0"/>
              <a:t> (paper → forecasts) — answers row 1</a:t>
            </a:r>
          </a:p>
          <a:p>
            <a:pPr lvl="0" rtl="0"/>
            <a:r>
              <a:rPr lang="en-IN" b="1" dirty="0"/>
              <a:t>Three concrete outputs</a:t>
            </a:r>
            <a:r>
              <a:rPr lang="en-IN" dirty="0"/>
              <a:t> (a date, a flight, an overdue party) — not abstractions but decisions, each traceable to a module on your slide 3</a:t>
            </a:r>
          </a:p>
          <a:p>
            <a:pPr rtl="0"/>
            <a:r>
              <a:rPr lang="en-IN" dirty="0"/>
              <a:t>Everyone on the team should be able to say this sentence from memory. When a judge later asks "so what exactly is new here?", the answer is this sentence, verbatim, without looking at the screen. That's the moment the Innovation marks are actually awarded.</a:t>
            </a:r>
          </a:p>
          <a:p>
            <a:pPr rtl="0"/>
            <a:r>
              <a:rPr lang="en-IN" b="1" dirty="0"/>
              <a:t>How to present it (about 60 seconds)</a:t>
            </a:r>
          </a:p>
          <a:p>
            <a:pPr rtl="0"/>
            <a:r>
              <a:rPr lang="en-IN" b="1" dirty="0"/>
              <a:t>Open with the frame (8 sec):</a:t>
            </a:r>
            <a:r>
              <a:rPr lang="en-IN" dirty="0"/>
              <a:t> </a:t>
            </a:r>
            <a:r>
              <a:rPr lang="en-IN" i="1" dirty="0"/>
              <a:t>"Before claiming innovation, we checked what already exists — four places a solution could come from."</a:t>
            </a:r>
            <a:endParaRPr lang="en-IN" dirty="0"/>
          </a:p>
          <a:p>
            <a:pPr rtl="0"/>
            <a:r>
              <a:rPr lang="en-IN" b="1" dirty="0"/>
              <a:t>Sweep the table (25 sec)</a:t>
            </a:r>
            <a:r>
              <a:rPr lang="en-IN" dirty="0"/>
              <a:t> — one breath per row, don't read the cells: </a:t>
            </a:r>
            <a:r>
              <a:rPr lang="en-IN" i="1" dirty="0"/>
              <a:t>"Today it runs on PDF forms and hand-marked boxes — it works because a few experienced officers hold it in their heads. Enterprise ERP assumes always-on internet and barcode infrastructure — dead on a kilobyte link. IoT trackers need coverage that doesn't exist on the ice, and they track location, not consumption or safety. And other polar nations built internal systems you cannot buy."</a:t>
            </a:r>
            <a:endParaRPr lang="en-IN" dirty="0"/>
          </a:p>
          <a:p>
            <a:pPr rtl="0"/>
            <a:r>
              <a:rPr lang="en-IN" b="1" dirty="0"/>
              <a:t>Land the delta (15 sec):</a:t>
            </a:r>
            <a:r>
              <a:rPr lang="en-IN" dirty="0"/>
              <a:t> Pause, then deliver the green sentence — slightly slower than your normal pace. Then one beat of silence. The pause </a:t>
            </a:r>
            <a:r>
              <a:rPr lang="en-IN" i="1" dirty="0"/>
              <a:t>is</a:t>
            </a:r>
            <a:r>
              <a:rPr lang="en-IN" dirty="0"/>
              <a:t> the presentation technique on this slide; rushing past the contribution sentence wastes the entire setup.</a:t>
            </a:r>
          </a:p>
          <a:p>
            <a:pPr rtl="0"/>
            <a:r>
              <a:rPr lang="en-IN" b="1" dirty="0"/>
              <a:t>Bridge (5 sec):</a:t>
            </a:r>
            <a:r>
              <a:rPr lang="en-IN" dirty="0"/>
              <a:t> </a:t>
            </a:r>
            <a:r>
              <a:rPr lang="en-IN" i="1" dirty="0"/>
              <a:t>"Every design choice follows from those four gaps — here are the trade-offs we made deliberately."</a:t>
            </a:r>
            <a:r>
              <a:rPr lang="en-IN" dirty="0"/>
              <a:t> (→ slide 6)</a:t>
            </a:r>
          </a:p>
          <a:p>
            <a:pPr rtl="0"/>
            <a:r>
              <a:rPr lang="en-IN" b="1" dirty="0"/>
              <a:t>Q&amp;A this slide invites</a:t>
            </a:r>
          </a:p>
          <a:p>
            <a:pPr lvl="0" rtl="0"/>
            <a:r>
              <a:rPr lang="en-IN" i="1" dirty="0"/>
              <a:t>"Odoo is open-source — you could customize it."</a:t>
            </a:r>
            <a:r>
              <a:rPr lang="en-IN" dirty="0"/>
              <a:t> → "We considered it. Odoo's sync model assumes a reachable server; making it offline-first multi-master would mean rewriting its core, not customizing it. A purpose-built event log is less code than that rewrite — and we own every line."</a:t>
            </a:r>
          </a:p>
          <a:p>
            <a:pPr lvl="0" rtl="0"/>
            <a:r>
              <a:rPr lang="en-IN" i="1" dirty="0"/>
              <a:t>"How do you know what other polar programmes use?"</a:t>
            </a:r>
            <a:r>
              <a:rPr lang="en-IN" dirty="0"/>
              <a:t> → "COMNAP publishes operational and SAR guidelines but no member offers logistics software as a product; there's no procurable system in the public domain. We cite COMNAP in our references."</a:t>
            </a:r>
          </a:p>
          <a:p>
            <a:pPr lvl="0" rtl="0"/>
            <a:r>
              <a:rPr lang="en-IN" i="1" dirty="0"/>
              <a:t>"Isn't 'event log' just event sourcing — a known pattern?"</a:t>
            </a:r>
            <a:r>
              <a:rPr lang="en-IN" dirty="0"/>
              <a:t> → Concede and reframe: "Yes — the pattern is standard; the innovation is the application: priority-tagged sync over Iridium-class links and expedition semantics like burn-rate and man-overdue built on it. We innovate where the problem is, not in the database literature." Judges reward teams that know the boundary of their own novelty — overclaiming here is the fastest way to lose the very marks this slide earns.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This is the trade-offs slide — the one that converts "we built something" into "we are engineers." Its target is the Solution Approach parameter, where the difference between 11/20 and 16/20 is exactly this: evidence that the team </a:t>
            </a:r>
            <a:r>
              <a:rPr lang="en-IN" i="1" dirty="0"/>
              <a:t>chose</a:t>
            </a:r>
            <a:r>
              <a:rPr lang="en-IN" dirty="0"/>
              <a:t> between real alternatives rather than assembling the first tutorial stack they found. The title carries the argument — "deliberately" — and the subtitle is a dare to the jury: "Each one is defensible in Q&amp;A." You're inviting the probe. That confidence itself scores.</a:t>
            </a:r>
          </a:p>
          <a:p>
            <a:pPr rtl="0"/>
            <a:r>
              <a:rPr lang="en-IN" dirty="0"/>
              <a:t>Every card has the same grammar: </a:t>
            </a:r>
            <a:r>
              <a:rPr lang="en-IN" b="1" dirty="0"/>
              <a:t>what we chose</a:t>
            </a:r>
            <a:r>
              <a:rPr lang="en-IN" dirty="0"/>
              <a:t> (bold) — </a:t>
            </a:r>
            <a:r>
              <a:rPr lang="en-IN" i="1" dirty="0"/>
              <a:t>what we rejected</a:t>
            </a:r>
            <a:r>
              <a:rPr lang="en-IN" dirty="0"/>
              <a:t> (italics) — why, in one line tied to Antarctica. Not "SQLite is lightweight and popular" (generic, from a blog) but "a USB stick is a valid sync medium" (only makes sense on the ice). That's the pattern to internalize: every justification must be un-copy-</a:t>
            </a:r>
            <a:r>
              <a:rPr lang="en-IN" dirty="0" err="1"/>
              <a:t>pasteable</a:t>
            </a:r>
            <a:r>
              <a:rPr lang="en-IN" dirty="0"/>
              <a:t> — true </a:t>
            </a:r>
            <a:r>
              <a:rPr lang="en-IN" i="1" dirty="0"/>
              <a:t>here</a:t>
            </a:r>
            <a:r>
              <a:rPr lang="en-IN" dirty="0"/>
              <a:t> and nowhere else.</a:t>
            </a:r>
          </a:p>
          <a:p>
            <a:pPr rtl="0"/>
            <a:r>
              <a:rPr lang="en-IN" b="1" dirty="0"/>
              <a:t>The six cards, decoded</a:t>
            </a:r>
          </a:p>
          <a:p>
            <a:pPr rtl="0"/>
            <a:r>
              <a:rPr lang="en-IN" b="1" dirty="0"/>
              <a:t>1. Append-only event log over a CRUD database.</a:t>
            </a:r>
            <a:r>
              <a:rPr lang="en-IN" dirty="0"/>
              <a:t> CRUD = Create, Read, Update, Delete — the normal way, where you edit records in place. The rejected alternative fails because two disconnected copies that both </a:t>
            </a:r>
            <a:r>
              <a:rPr lang="en-IN" i="1" dirty="0"/>
              <a:t>update</a:t>
            </a:r>
            <a:r>
              <a:rPr lang="en-IN" dirty="0"/>
              <a:t> "diesel = 480" will overwrite each other on reconnect, silently losing one truth. Append-only makes overwriting structurally impossible — nodes only add lines, merging is safe. The two bonuses ride free: audit trail (every change preserved forever — government evaluators love this) and corrections-as-events (a mistake is fixed by appending, so even errors are visible history).</a:t>
            </a:r>
          </a:p>
          <a:p>
            <a:pPr rtl="0"/>
            <a:r>
              <a:rPr lang="en-IN" b="1" dirty="0"/>
              <a:t>2. React PWA over native mobile apps.</a:t>
            </a:r>
            <a:r>
              <a:rPr lang="en-IN" dirty="0"/>
              <a:t> Native apps mean two codebases (iOS + Android), app-store distribution, and updates over a network. A PWA is one codebase that runs on any browser, installs to the home screen, and works offline. The punchline is the last clause: </a:t>
            </a:r>
            <a:r>
              <a:rPr lang="en-IN" i="1" dirty="0"/>
              <a:t>"no app store on the ice."</a:t>
            </a:r>
            <a:r>
              <a:rPr lang="en-IN" dirty="0"/>
              <a:t> Funny, memorable, and true — you cannot push a Play Store update to Maitri in July. This card also quietly answers "why not Flutter/React Native?" before anyone asks.</a:t>
            </a:r>
          </a:p>
          <a:p>
            <a:pPr rtl="0"/>
            <a:r>
              <a:rPr lang="en-IN" b="1" dirty="0"/>
              <a:t>3. SQLite file at the edge over a cloud database.</a:t>
            </a:r>
            <a:r>
              <a:rPr lang="en-IN" dirty="0"/>
              <a:t> The most counterintuitive card, because students are taught cloud = professional. Here the cloud is the single point of failure — it's the one thing a station cannot reach for nine months. SQLite's superpower in this context: </a:t>
            </a:r>
            <a:r>
              <a:rPr lang="en-IN" i="1" dirty="0"/>
              <a:t>the entire database is one file</a:t>
            </a:r>
            <a:r>
              <a:rPr lang="en-IN" dirty="0"/>
              <a:t>. So the file is simultaneously the database, the backup (copy it), and a sync medium (walk a USB stick from the radio room to the main building). "Sneakernet as a supported transport" is a design decision almost no other team will have thought to make — because no other team took the bandwidth constraint seriously.</a:t>
            </a:r>
          </a:p>
          <a:p>
            <a:pPr rtl="0"/>
            <a:r>
              <a:rPr lang="en-IN" b="1" dirty="0"/>
              <a:t>4. OR-Tools ILP solver over greedy heuristics.</a:t>
            </a:r>
            <a:r>
              <a:rPr lang="en-IN" dirty="0"/>
              <a:t> A greedy heuristic assigns cargo item-by-item ("heaviest first onto the ship") — fast, but it can paint itself into a corner and, worse, it always </a:t>
            </a:r>
            <a:r>
              <a:rPr lang="en-IN" i="1" dirty="0"/>
              <a:t>produces</a:t>
            </a:r>
            <a:r>
              <a:rPr lang="en-IN" dirty="0"/>
              <a:t> an answer, even a subtly impossible one. ILP treats the flight's 1,800 kg limit and hazard rules as hard constraints and does exhaustive optimization: either a provably legal load plan, or a proof that none exists. The card's key phrase — </a:t>
            </a:r>
            <a:r>
              <a:rPr lang="en-IN" i="1" dirty="0"/>
              <a:t>"an infeasible season must be flagged, not fudged"</a:t>
            </a:r>
            <a:r>
              <a:rPr lang="en-IN" dirty="0"/>
              <a:t> — is the domain justifying the math: when the cost of an undetected impossibility is a 12-month wait, you need the solver that says "no" honestly.</a:t>
            </a:r>
          </a:p>
          <a:p>
            <a:pPr rtl="0"/>
            <a:r>
              <a:rPr lang="en-IN" b="1" dirty="0"/>
              <a:t>5. Priority-tagged deltas over full-state sync.</a:t>
            </a:r>
            <a:r>
              <a:rPr lang="en-IN" dirty="0"/>
              <a:t> Full-state sync = send the whole database every time (how naive systems and even some commercial tools behave). Deltas = send only what's new since sequence N. Add the priority tag and you get triage: in a 15-minute Iridium window, PARTY_OVERDUE crosses before three days of rice consumption. This card is the </a:t>
            </a:r>
            <a:r>
              <a:rPr lang="en-IN" sz="1200" kern="1200" dirty="0">
                <a:solidFill>
                  <a:schemeClr val="tx1"/>
                </a:solidFill>
                <a:latin typeface="+mn-lt"/>
                <a:ea typeface="+mn-ea"/>
                <a:cs typeface="+mn-cs"/>
              </a:rPr>
              <a:t>priority</a:t>
            </a:r>
            <a:r>
              <a:rPr lang="en-IN" dirty="0"/>
              <a:t> field from the architecture slide, justified.</a:t>
            </a:r>
          </a:p>
          <a:p>
            <a:pPr rtl="0"/>
            <a:r>
              <a:rPr lang="en-IN" b="1" dirty="0"/>
              <a:t>6. The green card — no blockchain, no chatbot, no drones.</a:t>
            </a:r>
            <a:r>
              <a:rPr lang="en-IN" dirty="0"/>
              <a:t> Deliberately styled differently because it's a different kind of choice: what you </a:t>
            </a:r>
            <a:r>
              <a:rPr lang="en-IN" i="1" dirty="0"/>
              <a:t>refused</a:t>
            </a:r>
            <a:r>
              <a:rPr lang="en-IN" dirty="0"/>
              <a:t> to build. At SIH, buzzword-stacking is endemic — juries see "blockchain-based AI chatbot with drone integration" thirty times a week. Refusing the trend and naming </a:t>
            </a:r>
            <a:r>
              <a:rPr lang="en-IN" i="1" dirty="0"/>
              <a:t>why</a:t>
            </a:r>
            <a:r>
              <a:rPr lang="en-IN" dirty="0"/>
              <a:t> ("the evaluator is an operations cell") demonstrates you know your customer. And the closing line — </a:t>
            </a:r>
            <a:r>
              <a:rPr lang="en-IN" i="1" dirty="0"/>
              <a:t>"still works when the cable is cut"</a:t>
            </a:r>
            <a:r>
              <a:rPr lang="en-IN" dirty="0"/>
              <a:t> — is the deck's thesis in seven words. The green </a:t>
            </a:r>
            <a:r>
              <a:rPr lang="en-IN" dirty="0" err="1"/>
              <a:t>color</a:t>
            </a:r>
            <a:r>
              <a:rPr lang="en-IN" dirty="0"/>
              <a:t> says: this restraint is not a gap, it's our proudest decision.</a:t>
            </a:r>
          </a:p>
          <a:p>
            <a:pPr rtl="0"/>
            <a:r>
              <a:rPr lang="en-IN" dirty="0"/>
              <a:t>Notice the hidden structure: left column = data decisions (how truth is stored, kept, moved), right column = execution decisions (how it runs, computes, and what it refuses). And card 6 answers the question card 1 opened — the slide is a loop, not a list.</a:t>
            </a:r>
          </a:p>
          <a:p>
            <a:pPr rtl="0"/>
            <a:r>
              <a:rPr lang="en-IN" b="1" dirty="0"/>
              <a:t>How to present it (45–60 seconds)</a:t>
            </a:r>
          </a:p>
          <a:p>
            <a:pPr rtl="0"/>
            <a:r>
              <a:rPr lang="en-IN" dirty="0"/>
              <a:t>Do </a:t>
            </a:r>
            <a:r>
              <a:rPr lang="en-IN" b="1" dirty="0"/>
              <a:t>not</a:t>
            </a:r>
            <a:r>
              <a:rPr lang="en-IN" dirty="0"/>
              <a:t> read six cards — that's death. The move here is </a:t>
            </a:r>
            <a:r>
              <a:rPr lang="en-IN" i="1" dirty="0"/>
              <a:t>sampling with an invitation</a:t>
            </a:r>
            <a:r>
              <a:rPr lang="en-IN" dirty="0"/>
              <a:t>:</a:t>
            </a:r>
          </a:p>
          <a:p>
            <a:pPr rtl="0"/>
            <a:r>
              <a:rPr lang="en-IN" b="1" dirty="0"/>
              <a:t>Frame (8 sec):</a:t>
            </a:r>
            <a:r>
              <a:rPr lang="en-IN" dirty="0"/>
              <a:t> </a:t>
            </a:r>
            <a:r>
              <a:rPr lang="en-IN" i="1" dirty="0"/>
              <a:t>"Every stack choice on the previous slide was a decision between real alternatives. Six of them, each one line: what we chose, what we rejected, why."</a:t>
            </a:r>
            <a:endParaRPr lang="en-IN" dirty="0"/>
          </a:p>
          <a:p>
            <a:pPr rtl="0"/>
            <a:r>
              <a:rPr lang="en-IN" b="1" dirty="0"/>
              <a:t>Pick two cards, opposite corners (25 sec):</a:t>
            </a:r>
            <a:r>
              <a:rPr lang="en-IN" dirty="0"/>
              <a:t> SQLite — </a:t>
            </a:r>
            <a:r>
              <a:rPr lang="en-IN" i="1" dirty="0"/>
              <a:t>"We rejected a cloud database because the cloud is the one place a station can't reach for nine months. SQLite makes the whole database one file — which means a USB stick is a legal backup and a legal sync. On the ice, that's a feature, not a hack."</a:t>
            </a:r>
            <a:r>
              <a:rPr lang="en-IN" dirty="0"/>
              <a:t> Then the green card — </a:t>
            </a:r>
            <a:r>
              <a:rPr lang="en-IN" i="1" dirty="0"/>
              <a:t>"And our proudest decision is what we didn't build: no blockchain, no chatbot, no drones. Our evaluator runs operations. The win condition is: still works when the cable is cut."</a:t>
            </a:r>
            <a:endParaRPr lang="en-IN" dirty="0"/>
          </a:p>
          <a:p>
            <a:pPr rtl="0"/>
            <a:r>
              <a:rPr lang="en-IN" b="1" dirty="0"/>
              <a:t>The invitation (8 sec):</a:t>
            </a:r>
            <a:r>
              <a:rPr lang="en-IN" dirty="0"/>
              <a:t> </a:t>
            </a:r>
            <a:r>
              <a:rPr lang="en-IN" i="1" dirty="0"/>
              <a:t>"The other four are on the slide — challenge any of them in Q&amp;A."</a:t>
            </a:r>
            <a:r>
              <a:rPr lang="en-IN" dirty="0"/>
              <a:t> This is a power move: you're volunteering for cross-examination. Juries almost always take the bait, and now the Q&amp;A happens on ground you've rehearsed.</a:t>
            </a:r>
          </a:p>
          <a:p>
            <a:pPr rtl="0"/>
            <a:r>
              <a:rPr lang="en-IN" b="1" dirty="0"/>
              <a:t>Q&amp;A each card invites — one-line ripostes</a:t>
            </a:r>
          </a:p>
          <a:p>
            <a:pPr lvl="0" rtl="0"/>
            <a:r>
              <a:rPr lang="en-IN" i="1" dirty="0"/>
              <a:t>"Event logs grow forever — storage?"</a:t>
            </a:r>
            <a:r>
              <a:rPr lang="en-IN" dirty="0"/>
              <a:t> → "A full season is ~5,400 events, single-digit MB. We can snapshot-and-archive per season; the ice's scale is small in data, scarce only in bandwidth."</a:t>
            </a:r>
          </a:p>
          <a:p>
            <a:pPr lvl="0" rtl="0"/>
            <a:r>
              <a:rPr lang="en-IN" i="1" dirty="0"/>
              <a:t>"PWAs can't do X natively…"</a:t>
            </a:r>
            <a:r>
              <a:rPr lang="en-IN" dirty="0"/>
              <a:t> → "The only hardware we need is a camera for QR — which PWAs have. Everything else is forms and lists."</a:t>
            </a:r>
          </a:p>
          <a:p>
            <a:pPr lvl="0" rtl="0"/>
            <a:r>
              <a:rPr lang="en-IN" i="1" dirty="0"/>
              <a:t>"SQLite corrupts under concurrent writes."</a:t>
            </a:r>
            <a:r>
              <a:rPr lang="en-IN" dirty="0"/>
              <a:t> → "One writer per node by design — concurrency happens at merge, not at the file."</a:t>
            </a:r>
          </a:p>
          <a:p>
            <a:pPr lvl="0" rtl="0"/>
            <a:r>
              <a:rPr lang="en-IN" i="1" dirty="0"/>
              <a:t>"ILP is NP-hard — will it scale?"</a:t>
            </a:r>
            <a:r>
              <a:rPr lang="en-IN" dirty="0"/>
              <a:t> → "400 manifest lines, 3 vehicle classes — CP-SAT solves this in seconds. And it runs at HQ in Goa, never on the station."</a:t>
            </a:r>
          </a:p>
          <a:p>
            <a:pPr lvl="0" rtl="0"/>
            <a:r>
              <a:rPr lang="en-IN" i="1" dirty="0"/>
              <a:t>"Isn't refusing blockchain just avoiding hard work?"</a:t>
            </a:r>
            <a:r>
              <a:rPr lang="en-IN" dirty="0"/>
              <a:t> → "Blockchain solves distrust between adversarial parties. NCPOR's nodes all trust each other — the problem is disconnection, not distrust. Wrong tool, honestly named."</a:t>
            </a:r>
          </a:p>
          <a:p>
            <a:pPr rtl="0"/>
            <a:r>
              <a:rPr lang="en-IN" dirty="0"/>
              <a:t>That last answer is worth rehearsing word-for-word — "the problem is disconnection, not distrust" is the kind of sentence a judge writes down.</a:t>
            </a:r>
          </a:p>
          <a:p>
            <a:pPr rtl="0"/>
            <a:r>
              <a:rPr lang="en-IN" dirty="0"/>
              <a:t>One team-prep note: assign each card an owner. Six cards, six students — in Q&amp;A, the anchor redirects ("Rohit owns that choice") and a different voice defends it. Nothing demonstrates "Team work" — which is literally a scored parameter in Round 2 — like six people who can each defend one decision without notes.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This is the credibility slide — targeting Technical Soundness/Feasibility, and quietly setting up the Round 2 "Improvement" marks. Its logic is a courtroom's: don't tell the jury you're capable, </a:t>
            </a:r>
            <a:r>
              <a:rPr lang="en-IN" i="1" dirty="0"/>
              <a:t>enter evidence</a:t>
            </a:r>
            <a:r>
              <a:rPr lang="en-IN" dirty="0"/>
              <a:t>. And its most unusual move is the italic line at the bottom, which does something almost no SIH team does — voluntarily lists what </a:t>
            </a:r>
            <a:r>
              <a:rPr lang="en-IN" i="1" dirty="0"/>
              <a:t>doesn't</a:t>
            </a:r>
            <a:r>
              <a:rPr lang="en-IN" dirty="0"/>
              <a:t> work yet. That's not modesty; it's strategy. Let me decode both halves.</a:t>
            </a:r>
          </a:p>
          <a:p>
            <a:pPr rtl="0"/>
            <a:r>
              <a:rPr lang="en-IN" b="1" dirty="0"/>
              <a:t>One thing before anything else:</a:t>
            </a:r>
            <a:r>
              <a:rPr lang="en-IN" dirty="0"/>
              <a:t> this slide only works if it's true. Every checkmark is a claim the jury can say "show me" to — and a good jury will, possibly within minutes. So the team's first job between now and the finale is making these four artifacts actually exist in a GitHub repo: the schema file, the generator script, the forecast query, the size measurement. A single caught overclaim on this slide poisons every other slide — the whole deck is built on "conservative claims we can show on request," so one broken promise costs you all five parameters, not just this one. If any item won't be ready, delete its row; a three-check slide that's fully true beats a four-check slide with one bluff.</a:t>
            </a:r>
          </a:p>
          <a:p>
            <a:pPr rtl="0"/>
            <a:r>
              <a:rPr lang="en-IN" b="1" dirty="0"/>
              <a:t>The four proof points, decoded</a:t>
            </a:r>
          </a:p>
          <a:p>
            <a:pPr rtl="0"/>
            <a:r>
              <a:rPr lang="en-IN" dirty="0"/>
              <a:t>They're sequenced as a chain — each makes the next meaningful:</a:t>
            </a:r>
          </a:p>
          <a:p>
            <a:pPr rtl="0"/>
            <a:r>
              <a:rPr lang="en-IN" b="1" dirty="0"/>
              <a:t>1. Event-log schema (</a:t>
            </a:r>
            <a:r>
              <a:rPr lang="en-IN" b="1" dirty="0" err="1"/>
              <a:t>schema.sql</a:t>
            </a:r>
            <a:r>
              <a:rPr lang="en-IN" b="1" dirty="0"/>
              <a:t>).</a:t>
            </a:r>
            <a:r>
              <a:rPr lang="en-IN" dirty="0"/>
              <a:t> The foundation exists as a real file, not a diagram. "18 event types" says the vocabulary of the whole system is designed — every module's actions (scan, consume, depart, escalate) already have a defined shape. "Views rebuilt by replaying the log" proves the passbook philosophy is implemented, not aspirational: stock isn't a stored number anywhere, it's a query. Judges who know databases will recognize this as the hard </a:t>
            </a:r>
            <a:r>
              <a:rPr lang="en-IN" i="1" dirty="0"/>
              <a:t>thinking</a:t>
            </a:r>
            <a:r>
              <a:rPr lang="en-IN" dirty="0"/>
              <a:t> being done; the UI that follows is comparatively easy.</a:t>
            </a:r>
          </a:p>
          <a:p>
            <a:pPr rtl="0"/>
            <a:r>
              <a:rPr lang="en-IN" b="1" dirty="0"/>
              <a:t>2. Synthetic season generator.</a:t>
            </a:r>
            <a:r>
              <a:rPr lang="en-IN" dirty="0"/>
              <a:t> This answers the objection that kills most data projects: "you have no data." You can't get NCPOR's real manifests — so you generated a statistically plausible full season, shaped by their published notices: 3 cargo lots (matching real dispatch patterns), ~400 manifest lines, 35 members (a real expedition's size), 2 stations, producing </a:t>
            </a:r>
            <a:r>
              <a:rPr lang="en-IN" b="1" dirty="0"/>
              <a:t>5,439 events</a:t>
            </a:r>
            <a:r>
              <a:rPr lang="en-IN" dirty="0"/>
              <a:t>. That oddly specific number is deliberate — "about 5,000" sounds estimated; 5,439 sounds </a:t>
            </a:r>
            <a:r>
              <a:rPr lang="en-IN" i="1" dirty="0"/>
              <a:t>counted</a:t>
            </a:r>
            <a:r>
              <a:rPr lang="en-IN" dirty="0"/>
              <a:t>, which means the thing ran. The generator also future-proofs the demo: you can create a bad season (fuel shortfall, overloaded flights) on demand to make every screen interesting.</a:t>
            </a:r>
          </a:p>
          <a:p>
            <a:pPr rtl="0"/>
            <a:r>
              <a:rPr lang="en-IN" b="1" dirty="0"/>
              <a:t>3. Burn-rate forecast query.</a:t>
            </a:r>
            <a:r>
              <a:rPr lang="en-IN" dirty="0"/>
              <a:t> The crown jewel, because it's an </a:t>
            </a:r>
            <a:r>
              <a:rPr lang="en-IN" i="1" dirty="0"/>
              <a:t>outcome</a:t>
            </a:r>
            <a:r>
              <a:rPr lang="en-IN" dirty="0"/>
              <a:t>, not infrastructure: run against the synthetic season, the query already produces the demo moment — "same headcount, same burn: Maitri diesel crosses zero 2 Oct, seven weeks before the ship. Bharati safe." Note the craft in that sentence: it names the assumption (same headcount, same burn — you're not pretending to predict weather), gives a date not a quantity (dates force decisions), quantifies the gap (seven weeks), and includes a negative result (Bharati safe). Including the station that's </a:t>
            </a:r>
            <a:r>
              <a:rPr lang="en-IN" i="1" dirty="0"/>
              <a:t>fine</a:t>
            </a:r>
            <a:r>
              <a:rPr lang="en-IN" dirty="0"/>
              <a:t> is what makes the alarming one believable — a system that only ever finds crises looks rigged.</a:t>
            </a:r>
          </a:p>
          <a:p>
            <a:pPr rtl="0"/>
            <a:r>
              <a:rPr lang="en-IN" b="1" dirty="0"/>
              <a:t>4. Bandwidth budget (measured).</a:t>
            </a:r>
            <a:r>
              <a:rPr lang="en-IN" dirty="0"/>
              <a:t> The word "(measured)" is the whole point. Anyone can claim "it'll work on a slow link"; you serialized a real day of events from the synthetic season and weighed it: a few KB, comfortably inside a 15-minute Iridium window. This converts the architecture slide's boldest promise from assertion to arithmetic. It's also the cheapest of the four to produce — an afternoon's work — and possibly the highest credibility-per-effort on the slide.</a:t>
            </a:r>
          </a:p>
          <a:p>
            <a:pPr rtl="0"/>
            <a:r>
              <a:rPr lang="en-IN" dirty="0"/>
              <a:t>Notice what the four have in common: none is a UI. That's intentional — it says the team spent its pre-finale time on the </a:t>
            </a:r>
            <a:r>
              <a:rPr lang="en-IN" i="1" dirty="0"/>
              <a:t>hard, invisible</a:t>
            </a:r>
            <a:r>
              <a:rPr lang="en-IN" dirty="0"/>
              <a:t> parts (schema, data, math, measurement) rather than on screenshots. Juries who've built software know that's the right order.</a:t>
            </a:r>
          </a:p>
          <a:p>
            <a:pPr rtl="0"/>
            <a:r>
              <a:rPr lang="en-IN" b="1" dirty="0"/>
              <a:t>The italic line — why confessing weakness scores points</a:t>
            </a:r>
          </a:p>
          <a:p>
            <a:pPr rtl="0"/>
            <a:r>
              <a:rPr lang="en-IN" i="1" dirty="0"/>
              <a:t>"What we are NOT claiming yet: no UI screens, no live sync between machines, no solver runs. That is exactly what the 5-day plan builds — and what you will see improve between rounds."</a:t>
            </a:r>
            <a:endParaRPr lang="en-IN" dirty="0"/>
          </a:p>
          <a:p>
            <a:pPr rtl="0"/>
            <a:r>
              <a:rPr lang="en-IN" dirty="0"/>
              <a:t>Three mechanisms working at once:</a:t>
            </a:r>
          </a:p>
          <a:p>
            <a:pPr lvl="0" rtl="0"/>
            <a:r>
              <a:rPr lang="en-IN" b="1" dirty="0"/>
              <a:t>It buys trust for the checkmarks.</a:t>
            </a:r>
            <a:r>
              <a:rPr lang="en-IN" dirty="0"/>
              <a:t> A team that volunteers its gaps is believed about its claims. The confession is what makes the four ✓s land as facts rather than marketing.</a:t>
            </a:r>
          </a:p>
          <a:p>
            <a:pPr lvl="0" rtl="0"/>
            <a:r>
              <a:rPr lang="en-IN" b="1" dirty="0"/>
              <a:t>It disarms the jury's </a:t>
            </a:r>
            <a:r>
              <a:rPr lang="en-IN" b="1" dirty="0" err="1"/>
              <a:t>favorite</a:t>
            </a:r>
            <a:r>
              <a:rPr lang="en-IN" b="1" dirty="0"/>
              <a:t> trap.</a:t>
            </a:r>
            <a:r>
              <a:rPr lang="en-IN" dirty="0"/>
              <a:t> Round 1 juries probe for overclaim — "so can I see the app?" With this line, the answer is already on the slide, in your words, on your terms. There's no gotcha left to spring.</a:t>
            </a:r>
          </a:p>
          <a:p>
            <a:pPr lvl="0" rtl="0"/>
            <a:r>
              <a:rPr lang="en-IN" b="1" dirty="0"/>
              <a:t>It weaponizes the scoring structure.</a:t>
            </a:r>
            <a:r>
              <a:rPr lang="en-IN" dirty="0"/>
              <a:t> Remember the judging sheet: Round 2's parameters include </a:t>
            </a:r>
            <a:r>
              <a:rPr lang="en-IN" i="1" dirty="0"/>
              <a:t>Prototype Development</a:t>
            </a:r>
            <a:r>
              <a:rPr lang="en-IN" dirty="0"/>
              <a:t> and </a:t>
            </a:r>
            <a:r>
              <a:rPr lang="en-IN" i="1" dirty="0"/>
              <a:t>Improvement</a:t>
            </a:r>
            <a:r>
              <a:rPr lang="en-IN" dirty="0"/>
              <a:t>. Improvement is measured against the expectations you set in Round 1. By marking a deliberately conservative baseline — and telling the jury what will change — you've pre-loaded Day 3: when the sync demo and forecast screen appear, the same judge who signed your Round 1 sheet watches you deliver </a:t>
            </a:r>
            <a:r>
              <a:rPr lang="en-IN" i="1" dirty="0"/>
              <a:t>exactly</a:t>
            </a:r>
            <a:r>
              <a:rPr lang="en-IN" dirty="0"/>
              <a:t> what you promised. Under-promise, over-deliver, with the promise in writing.</a:t>
            </a:r>
          </a:p>
          <a:p>
            <a:pPr rtl="0"/>
            <a:r>
              <a:rPr lang="en-IN" b="1" dirty="0"/>
              <a:t>How to present it (40–50 seconds)</a:t>
            </a:r>
          </a:p>
          <a:p>
            <a:pPr rtl="0"/>
            <a:r>
              <a:rPr lang="en-IN" b="1" dirty="0"/>
              <a:t>Frame (8 sec):</a:t>
            </a:r>
            <a:r>
              <a:rPr lang="en-IN" dirty="0"/>
              <a:t> </a:t>
            </a:r>
            <a:r>
              <a:rPr lang="en-IN" i="1" dirty="0"/>
              <a:t>"We didn't want to arrive with only slides. Four things already exist — each one we can open on this laptop if you ask."</a:t>
            </a:r>
            <a:r>
              <a:rPr lang="en-IN" dirty="0"/>
              <a:t> (Only say that last clause if it's true. Then make it true.)</a:t>
            </a:r>
          </a:p>
          <a:p>
            <a:pPr rtl="0"/>
            <a:r>
              <a:rPr lang="en-IN" b="1" dirty="0"/>
              <a:t>Walk the chain fast (20 sec):</a:t>
            </a:r>
            <a:r>
              <a:rPr lang="en-IN" dirty="0"/>
              <a:t> </a:t>
            </a:r>
            <a:r>
              <a:rPr lang="en-IN" i="1" dirty="0"/>
              <a:t>"The schema is written — eighteen event types, and stock is a replay of the log, not a stored number. Against it we generated a full synthetic season — five thousand four hundred thirty-nine events. Running our forecast on that season already produces the answer that matters: Maitri's diesel crosses zero on October 2nd, seven weeks before the ship — while Bharati is safe. And we measured the sync payload: a day of station events is a few kilobytes — it fits an Iridium window."</a:t>
            </a:r>
            <a:endParaRPr lang="en-IN" dirty="0"/>
          </a:p>
          <a:p>
            <a:pPr rtl="0"/>
            <a:r>
              <a:rPr lang="en-IN" b="1" dirty="0"/>
              <a:t>The confession, unhurried (12 sec):</a:t>
            </a:r>
            <a:r>
              <a:rPr lang="en-IN" dirty="0"/>
              <a:t> Slow down here — rushing it looks embarrassed, and the line is your pride, not your apology. </a:t>
            </a:r>
            <a:r>
              <a:rPr lang="en-IN" i="1" dirty="0"/>
              <a:t>"And to be precise about what we are NOT claiming: no UI yet, no live sync between machines, no solver runs. That is exactly what the five days build — and what you'll see improve between Round 1 and Round 2."</a:t>
            </a:r>
            <a:r>
              <a:rPr lang="en-IN" dirty="0"/>
              <a:t> That last sentence, delivered while looking at the jury, is you handing them the Round 2 scorecard.</a:t>
            </a:r>
          </a:p>
          <a:p>
            <a:pPr rtl="0"/>
            <a:r>
              <a:rPr lang="en-IN" b="1" dirty="0"/>
              <a:t>Bridge (3 sec):</a:t>
            </a:r>
            <a:r>
              <a:rPr lang="en-IN" dirty="0"/>
              <a:t> </a:t>
            </a:r>
            <a:r>
              <a:rPr lang="en-IN" i="1" dirty="0"/>
              <a:t>"Here's how those five days are laid out."</a:t>
            </a:r>
            <a:r>
              <a:rPr lang="en-IN" dirty="0"/>
              <a:t> (→ the 5-day plan slide.)</a:t>
            </a:r>
          </a:p>
          <a:p>
            <a:pPr rtl="0"/>
            <a:r>
              <a:rPr lang="en-IN" b="1" dirty="0"/>
              <a:t>Q&amp;A this slide invites</a:t>
            </a:r>
          </a:p>
          <a:p>
            <a:pPr lvl="0" rtl="0"/>
            <a:r>
              <a:rPr lang="en-IN" i="1" dirty="0"/>
              <a:t>"Show me the forecast running."</a:t>
            </a:r>
            <a:r>
              <a:rPr lang="en-IN" dirty="0"/>
              <a:t> → The dream question. Have a terminal ready: one command, the query runs, the date appears. Rehearse this like a fire drill — laptop open, repo pulled, offline-capable.</a:t>
            </a:r>
          </a:p>
          <a:p>
            <a:pPr lvl="0" rtl="0"/>
            <a:r>
              <a:rPr lang="en-IN" i="1" dirty="0"/>
              <a:t>"Your data is synthetic — how do you know it's realistic?"</a:t>
            </a:r>
            <a:r>
              <a:rPr lang="en-IN" dirty="0"/>
              <a:t> → "Every parameter comes from NCPOR's published notices — lot counts, member counts, flight limits. And the architecture doesn't depend on the data being right: real events replace synthetic ones with zero schema change. The generator is scaffolding, not foundation."</a:t>
            </a:r>
          </a:p>
          <a:p>
            <a:pPr lvl="0" rtl="0"/>
            <a:r>
              <a:rPr lang="en-IN" i="1" dirty="0"/>
              <a:t>"5,439 events — why should that impress us? My phone logs more."</a:t>
            </a:r>
            <a:r>
              <a:rPr lang="en-IN" dirty="0"/>
              <a:t> → "It shouldn't impress by size — it proves the pipeline end-to-end: generate, load, replay, query. The number is small because Antarctica is small in data. It's scarce in bandwidth — which is why the fourth checkmark is the measurement."</a:t>
            </a:r>
          </a:p>
          <a:p>
            <a:pPr lvl="0" rtl="0"/>
            <a:r>
              <a:rPr lang="en-IN" i="1" dirty="0"/>
              <a:t>"If the hard part is done, what's left that's risky?"</a:t>
            </a:r>
            <a:r>
              <a:rPr lang="en-IN" dirty="0"/>
              <a:t> → "The riskiest piece is two-machine sync under a throttled link — which is why it's scheduled Day 2, not Day 4. Everything after it is screens on top of a working log."</a:t>
            </a:r>
          </a:p>
          <a:p>
            <a:pPr rtl="0"/>
            <a:r>
              <a:rPr lang="en-IN" dirty="0"/>
              <a:t>One rehearsal note: the number 5,439 and the date 2 Oct must match whatever the repo actually produces on demo day — regenerate the deck from the real output, never the other way around. A judge with a calculator and a mismatch is how credibility slides die.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This is the risk slide — the direct play for Technical Soundness/Feasibility, which I flagged earlier as "where juries probe in Q&amp;A and the easiest 5 marks to lose." Its strategy is pre-emption: every hard question a judge could ask is already on the screen, in red, asked </a:t>
            </a:r>
            <a:r>
              <a:rPr lang="en-IN" i="1" dirty="0"/>
              <a:t>by you</a:t>
            </a:r>
            <a:r>
              <a:rPr lang="en-IN" dirty="0"/>
              <a:t>. A jury can attack a team that hides risks; it can only discuss with a team that lists them. The subtitle sets the honest tone — "where it can break, and what we do about it" — and the visual grammar does the rest: red </a:t>
            </a:r>
            <a:r>
              <a:rPr lang="en-IN" b="1" dirty="0"/>
              <a:t>Risk</a:t>
            </a:r>
            <a:r>
              <a:rPr lang="en-IN" dirty="0"/>
              <a:t> left, green </a:t>
            </a:r>
            <a:r>
              <a:rPr lang="en-IN" b="1" dirty="0"/>
              <a:t>Mitigation</a:t>
            </a:r>
            <a:r>
              <a:rPr lang="en-IN" dirty="0"/>
              <a:t> right, six rows, no row without an answer.</a:t>
            </a:r>
          </a:p>
          <a:p>
            <a:pPr rtl="0"/>
            <a:r>
              <a:rPr lang="en-IN" dirty="0"/>
              <a:t>The six aren't random — they're the six </a:t>
            </a:r>
            <a:r>
              <a:rPr lang="en-IN" i="1" dirty="0"/>
              <a:t>categories</a:t>
            </a:r>
            <a:r>
              <a:rPr lang="en-IN" dirty="0"/>
              <a:t> of doubt, in escalating order: technical → institutional → human → physical → data → yourselves. Row by row:</a:t>
            </a:r>
          </a:p>
          <a:p>
            <a:pPr rtl="0"/>
            <a:r>
              <a:rPr lang="en-IN" b="1" dirty="0"/>
              <a:t>1. Conflicting edits from disconnected nodes.</a:t>
            </a:r>
            <a:r>
              <a:rPr lang="en-IN" dirty="0"/>
              <a:t> The classic distributed-systems attack, and the first any technical judge fires. The mitigation has three layers, and the team should know they're layers: per-node sequence numbers mean no two nodes ever write to the same counter; append-only means merging is concatenation, not conflict resolution; and the subtle third — what if Goa's </a:t>
            </a:r>
            <a:r>
              <a:rPr lang="en-IN" i="1" dirty="0"/>
              <a:t>projection</a:t>
            </a:r>
            <a:r>
              <a:rPr lang="en-IN" dirty="0"/>
              <a:t> of Maitri's stock disagrees with reality? A physical </a:t>
            </a:r>
            <a:r>
              <a:rPr lang="en-IN" sz="1200" kern="1200" dirty="0">
                <a:solidFill>
                  <a:schemeClr val="tx1"/>
                </a:solidFill>
                <a:latin typeface="+mn-lt"/>
                <a:ea typeface="+mn-ea"/>
                <a:cs typeface="+mn-cs"/>
              </a:rPr>
              <a:t>STOCK_COUNTED</a:t>
            </a:r>
            <a:r>
              <a:rPr lang="en-IN" dirty="0"/>
              <a:t> audit event outranks projection and re-bases it. So even the residual disagreement (model vs. world, not node vs. node) has a defined resolution. That's a complete answer, not a hand-wave.</a:t>
            </a:r>
          </a:p>
          <a:p>
            <a:pPr rtl="0"/>
            <a:r>
              <a:rPr lang="en-IN" b="1" dirty="0"/>
              <a:t>2. NCPOR already runs </a:t>
            </a:r>
            <a:r>
              <a:rPr lang="en-IN" b="1" dirty="0" err="1"/>
              <a:t>GeM</a:t>
            </a:r>
            <a:r>
              <a:rPr lang="en-IN" b="1" dirty="0"/>
              <a:t> procurement &amp; e-office.</a:t>
            </a:r>
            <a:r>
              <a:rPr lang="en-IN" dirty="0"/>
              <a:t> The institutional kill-shot — "we already have systems" is how government pilots die. The mitigation is positioning, not code: </a:t>
            </a:r>
            <a:r>
              <a:rPr lang="en-IN" dirty="0" err="1"/>
              <a:t>PolarOS</a:t>
            </a:r>
            <a:r>
              <a:rPr lang="en-IN" dirty="0"/>
              <a:t> is the </a:t>
            </a:r>
            <a:r>
              <a:rPr lang="en-IN" i="1" dirty="0"/>
              <a:t>operational layer</a:t>
            </a:r>
            <a:r>
              <a:rPr lang="en-IN" dirty="0"/>
              <a:t> those systems don't have. </a:t>
            </a:r>
            <a:r>
              <a:rPr lang="en-IN" dirty="0" err="1"/>
              <a:t>GeM</a:t>
            </a:r>
            <a:r>
              <a:rPr lang="en-IN" dirty="0"/>
              <a:t> handles buying; e-office handles files; nothing follows a crate across five custody handovers or forecasts winter stock. "API hooks, never a procurement rebuild" tells any NCPOR official in the room: we're not threatening your existing vendors or workflows — we sit on top. This row is politics, correctly done.</a:t>
            </a:r>
          </a:p>
          <a:p>
            <a:pPr rtl="0"/>
            <a:r>
              <a:rPr lang="en-IN" b="1" dirty="0"/>
              <a:t>3. Users wear gloves, work in low light, are not developers.</a:t>
            </a:r>
            <a:r>
              <a:rPr lang="en-IN" dirty="0"/>
              <a:t> The adoption risk — most student teams design for themselves. The mitigation is a UI doctrine: large tap targets (glove-sized), QR-first input (scanning beats typing at −20°), one-tap SOPs (an emergency is not the moment for menus), everything phone-usable. One line signals you designed for a diesel mechanic at Maitri in July, not for a demo booth.</a:t>
            </a:r>
          </a:p>
          <a:p>
            <a:pPr rtl="0"/>
            <a:r>
              <a:rPr lang="en-IN" b="1" dirty="0"/>
              <a:t>4. Hardware dies at −40 °C.</a:t>
            </a:r>
            <a:r>
              <a:rPr lang="en-IN" dirty="0"/>
              <a:t> The physical-reality check. The mitigation reframes the question: the app has </a:t>
            </a:r>
            <a:r>
              <a:rPr lang="en-IN" i="1" dirty="0"/>
              <a:t>no special hardware</a:t>
            </a:r>
            <a:r>
              <a:rPr lang="en-IN" dirty="0"/>
              <a:t> — any surviving laptop runs it, and because the database is one file, a USB stick is both backup and transport. You can't stop hardware dying; you can make the system indifferent to </a:t>
            </a:r>
            <a:r>
              <a:rPr lang="en-IN" i="1" dirty="0"/>
              <a:t>which</a:t>
            </a:r>
            <a:r>
              <a:rPr lang="en-IN" dirty="0"/>
              <a:t> hardware survives. Note this is the SQLite trade-off card paying off a second time — good decks rhyme like this.</a:t>
            </a:r>
          </a:p>
          <a:p>
            <a:pPr rtl="0"/>
            <a:r>
              <a:rPr lang="en-IN" b="1" dirty="0"/>
              <a:t>5. Forecast is only as good as consumption logging.</a:t>
            </a:r>
            <a:r>
              <a:rPr lang="en-IN" dirty="0"/>
              <a:t> The garbage-in-garbage-out risk — and the most honest row, because it concedes your crown-jewel feature (the burn-rate forecast) has a dependency on human </a:t>
            </a:r>
            <a:r>
              <a:rPr lang="en-IN" dirty="0" err="1"/>
              <a:t>behavior</a:t>
            </a:r>
            <a:r>
              <a:rPr lang="en-IN" dirty="0"/>
              <a:t>. The mitigation attacks all three ends: minimize the burden (daily aggregate entries, ~2 min/day — not per-item logging), correct the drift (physical audits re-base the projection), and pad the output (conservative safety margins on stock-out dates — the system errs toward warning early). A judge who reads this row learns you understand </a:t>
            </a:r>
            <a:r>
              <a:rPr lang="en-IN" i="1" dirty="0"/>
              <a:t>operational</a:t>
            </a:r>
            <a:r>
              <a:rPr lang="en-IN" dirty="0"/>
              <a:t> feasibility, not just code feasibility.</a:t>
            </a:r>
          </a:p>
          <a:p>
            <a:pPr rtl="0"/>
            <a:r>
              <a:rPr lang="en-IN" b="1" dirty="0"/>
              <a:t>6. "We have never been to Antarctica."</a:t>
            </a:r>
            <a:r>
              <a:rPr lang="en-IN" dirty="0"/>
              <a:t> The best row on the slide — the objection every judge is silently thinking, spoken aloud by the team itself. Naming it converts a vulnerability into charm; the room usually smiles, and the tension it would have carried in Q&amp;A evaporates. The mitigation is method: every constraint on every slide traces to NCPOR's </a:t>
            </a:r>
            <a:r>
              <a:rPr lang="en-IN" i="1" dirty="0"/>
              <a:t>published</a:t>
            </a:r>
            <a:r>
              <a:rPr lang="en-IN" dirty="0"/>
              <a:t> notices (flight limits, lot dates, forms), plus a requested Week-2 review with a polar-logistics practitioner. Translation: we substitute rigor-about-sources for experience we can't have — which is exactly what good engineers do with unfamiliar domains.</a:t>
            </a:r>
          </a:p>
          <a:p>
            <a:pPr rtl="0"/>
            <a:r>
              <a:rPr lang="en-IN" b="1" dirty="0"/>
              <a:t>How to present it (35–45 sec).</a:t>
            </a:r>
            <a:r>
              <a:rPr lang="en-IN" dirty="0"/>
              <a:t> This slide should be </a:t>
            </a:r>
            <a:r>
              <a:rPr lang="en-IN" i="1" dirty="0"/>
              <a:t>fast</a:t>
            </a:r>
            <a:r>
              <a:rPr lang="en-IN" dirty="0"/>
              <a:t> — its power is existence, not narration. Frame: </a:t>
            </a:r>
            <a:r>
              <a:rPr lang="en-IN" i="1" dirty="0"/>
              <a:t>"We'd rather name our risks than have you find them."</a:t>
            </a:r>
            <a:r>
              <a:rPr lang="en-IN" dirty="0"/>
              <a:t> Then pick two rows only: row 6 first (</a:t>
            </a:r>
            <a:r>
              <a:rPr lang="en-IN" i="1" dirty="0"/>
              <a:t>"Starting with the biggest one: none of us has been to Antarctica. So every constraint we've claimed traces to NCPOR's own published notices — and we've requested a review with a polar-logistics practitioner"</a:t>
            </a:r>
            <a:r>
              <a:rPr lang="en-IN" dirty="0"/>
              <a:t>), then row 5 (</a:t>
            </a:r>
            <a:r>
              <a:rPr lang="en-IN" i="1" dirty="0"/>
              <a:t>"And our forecast is only as good as what gets logged — so we ask for two minutes a day, audits correct the drift, and stock-out dates carry safety margins"</a:t>
            </a:r>
            <a:r>
              <a:rPr lang="en-IN" dirty="0"/>
              <a:t>). Close with the invitation: </a:t>
            </a:r>
            <a:r>
              <a:rPr lang="en-IN" i="1" dirty="0"/>
              <a:t>"The other four are on the slide — happy to go deeper on any."</a:t>
            </a:r>
            <a:r>
              <a:rPr lang="en-IN" dirty="0"/>
              <a:t> Leading with the self-deprecating row and the crown-jewel's weakness signals total confidence; a nervous team would bury both.</a:t>
            </a:r>
          </a:p>
          <a:p>
            <a:pPr rtl="0"/>
            <a:r>
              <a:rPr lang="en-IN" b="1" dirty="0"/>
              <a:t>Q&amp;A this slide invites:</a:t>
            </a:r>
            <a:endParaRPr lang="en-IN" dirty="0"/>
          </a:p>
          <a:p>
            <a:pPr lvl="0" rtl="0"/>
            <a:r>
              <a:rPr lang="en-IN" i="1" dirty="0"/>
              <a:t>"What risk is NOT on this slide?"</a:t>
            </a:r>
            <a:r>
              <a:rPr lang="en-IN" dirty="0"/>
              <a:t> — the meta-trap; have one ready rather than claiming completeness: "Adoption inertia — people keep using paper next to the system. Our answer is the pilot design: one season, one station, the stock-out screen shown weekly to the station leader, so the payoff is visible to the person doing the logging."</a:t>
            </a:r>
          </a:p>
          <a:p>
            <a:pPr lvl="0" rtl="0"/>
            <a:r>
              <a:rPr lang="en-IN" i="1" dirty="0"/>
              <a:t>"Who is the practitioner?"</a:t>
            </a:r>
            <a:r>
              <a:rPr lang="en-IN" dirty="0"/>
              <a:t> → be honest about status: "Requested through our institute's channels — targeted at a retired expedition member or NCPOR alumnus; the review slot is held in Week 2 regardless." Never invent a name.</a:t>
            </a:r>
          </a:p>
          <a:p>
            <a:pPr lvl="0" rtl="0"/>
            <a:r>
              <a:rPr lang="en-IN" i="1" dirty="0"/>
              <a:t>"2 minutes a day for nine months — will they really?"</a:t>
            </a:r>
            <a:r>
              <a:rPr lang="en-IN" dirty="0"/>
              <a:t> → "That's why the same screen that takes the entry shows the stock-out date. The person logging is the person the forecast protects. Effort and payoff meet at the same screen."</a:t>
            </a:r>
          </a:p>
          <a:p>
            <a:pPr rtl="0"/>
            <a:r>
              <a:rPr lang="en-IN" dirty="0"/>
              <a:t>One preparation note: this slide pairs with the backup Q&amp;A slide (the three hardest questions) — together they form your defensive perimeter. In rehearsal, run a mock Q&amp;A where mentors fire </a:t>
            </a:r>
            <a:r>
              <a:rPr lang="en-IN" i="1" dirty="0"/>
              <a:t>only</a:t>
            </a:r>
            <a:r>
              <a:rPr lang="en-IN" dirty="0"/>
              <a:t> attacks from these six rows, and each row's answer must come from a different student. Six risks, six voices — by finale day, there is no question on this slide the team hears for the first time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This is the execution slide — targeting the fifth parameter, Execution Timeline, which I called the most neglected and most mechanical to score. Most teams treat "timeline" as a formality: a Gantt bar with "development" smeared across it. This slide instead does the thing juries almost never see — it schedules itself </a:t>
            </a:r>
            <a:r>
              <a:rPr lang="en-IN" i="1" dirty="0"/>
              <a:t>against the jury's own paperwork</a:t>
            </a:r>
            <a:r>
              <a:rPr lang="en-IN" dirty="0"/>
              <a:t>. The title says it out loud: "aligned to </a:t>
            </a:r>
            <a:r>
              <a:rPr lang="en-IN" i="1" dirty="0"/>
              <a:t>your</a:t>
            </a:r>
            <a:r>
              <a:rPr lang="en-IN" dirty="0"/>
              <a:t> evaluation sheet." That one word — </a:t>
            </a:r>
            <a:r>
              <a:rPr lang="en-IN" i="1" dirty="0"/>
              <a:t>your</a:t>
            </a:r>
            <a:r>
              <a:rPr lang="en-IN" dirty="0"/>
              <a:t> — tells the judges you've read the instrument they'll score you with, and built the week around it. Judges reuse the same sheet across all three rounds; this slide is you filling in their expectations column in advance.</a:t>
            </a:r>
          </a:p>
          <a:p>
            <a:pPr rtl="0"/>
            <a:r>
              <a:rPr lang="en-IN" b="1" dirty="0"/>
              <a:t>The three-column grammar</a:t>
            </a:r>
          </a:p>
          <a:p>
            <a:pPr rtl="0"/>
            <a:r>
              <a:rPr lang="en-IN" dirty="0"/>
              <a:t>Left: </a:t>
            </a:r>
            <a:r>
              <a:rPr lang="en-IN" b="1" dirty="0"/>
              <a:t>when</a:t>
            </a:r>
            <a:r>
              <a:rPr lang="en-IN" dirty="0"/>
              <a:t>. Middle: </a:t>
            </a:r>
            <a:r>
              <a:rPr lang="en-IN" b="1" dirty="0"/>
              <a:t>what gets built</a:t>
            </a:r>
            <a:r>
              <a:rPr lang="en-IN" dirty="0"/>
              <a:t>. Right: </a:t>
            </a:r>
            <a:r>
              <a:rPr lang="en-IN" b="1" dirty="0"/>
              <a:t>what the jury sees</a:t>
            </a:r>
            <a:r>
              <a:rPr lang="en-IN" dirty="0"/>
              <a:t> — and this third column is the innovation of the slide. A normal plan stops at column two. Column three converts a private work plan into a public promise schedule, with the two evaluation days (Day 3 and Day 5) highlighted in navy and their entries in red. Visually, the jury's eye lands on exactly two cells: </a:t>
            </a:r>
            <a:r>
              <a:rPr lang="en-IN" i="1" dirty="0"/>
              <a:t>"Round 2: prototype + sync + forecast LIVE"</a:t>
            </a:r>
            <a:r>
              <a:rPr lang="en-IN" dirty="0"/>
              <a:t> and </a:t>
            </a:r>
            <a:r>
              <a:rPr lang="en-IN" i="1" dirty="0"/>
              <a:t>"Round 3: demo + readiness + future scope."</a:t>
            </a:r>
            <a:r>
              <a:rPr lang="en-IN" dirty="0"/>
              <a:t> Those two red cells are the contract.</a:t>
            </a:r>
          </a:p>
          <a:p>
            <a:pPr rtl="0"/>
            <a:r>
              <a:rPr lang="en-IN" b="1" dirty="0"/>
              <a:t>Row by row — and the engineering logic underneath</a:t>
            </a:r>
          </a:p>
          <a:p>
            <a:pPr rtl="0"/>
            <a:r>
              <a:rPr lang="en-IN" b="1" dirty="0"/>
              <a:t>Before arrival — "(done)."</a:t>
            </a:r>
            <a:r>
              <a:rPr lang="en-IN" dirty="0"/>
              <a:t> The plan starts with a completed row. Psychologically this changes everything that follows: rows 2–6 aren't hopes stacked on hopes, they're the continuation of a track record that's already one-for-one. It also quietly restates the "Already working" slide in one line — schema, 5,439-event season, wireframes, roles locked — so a judge who skims still catches it.</a:t>
            </a:r>
          </a:p>
          <a:p>
            <a:pPr rtl="0"/>
            <a:r>
              <a:rPr lang="en-IN" b="1" dirty="0"/>
              <a:t>Day 1 — cargo QR scan + inventory ledger, offline.</a:t>
            </a:r>
            <a:r>
              <a:rPr lang="en-IN" dirty="0"/>
              <a:t> Deliberately chosen as day one for three reasons: it's the most </a:t>
            </a:r>
            <a:r>
              <a:rPr lang="en-IN" dirty="0" err="1"/>
              <a:t>demoable</a:t>
            </a:r>
            <a:r>
              <a:rPr lang="en-IN" dirty="0"/>
              <a:t> unit (a phone scanning a QR is theatre), it exercises the full stack shallowly (PWA → event → SQLite → replayed view — so integration risk is discovered on day 1, not day 4), and it needs no second machine. Note the phrase "on the PWA, offline" — the flagship constraint is </a:t>
            </a:r>
            <a:r>
              <a:rPr lang="en-IN" dirty="0" err="1"/>
              <a:t>honored</a:t>
            </a:r>
            <a:r>
              <a:rPr lang="en-IN" dirty="0"/>
              <a:t> from the very first build day, not retrofitted.</a:t>
            </a:r>
          </a:p>
          <a:p>
            <a:pPr rtl="0"/>
            <a:r>
              <a:rPr lang="en-IN" b="1" dirty="0"/>
              <a:t>Day 2 — personnel + overdue alert + two-laptop sync demo.</a:t>
            </a:r>
            <a:r>
              <a:rPr lang="en-IN" dirty="0"/>
              <a:t> This is the riskiest item in the whole plan — multi-node sync — and it's placed </a:t>
            </a:r>
            <a:r>
              <a:rPr lang="en-IN" i="1" dirty="0"/>
              <a:t>early</a:t>
            </a:r>
            <a:r>
              <a:rPr lang="en-IN" dirty="0"/>
              <a:t>, exactly as the risk slide promised ("scheduled Day 2, not Day 4"). This is risk-front-loading, and you should name it as such if asked: the item most likely to fail gets the most recovery time. Day 2 also delivers the first safety feature (overdue alert), so by the end of it, the two hardest claims of the architecture — offline and sync — both exist in some form.</a:t>
            </a:r>
          </a:p>
          <a:p>
            <a:pPr rtl="0"/>
            <a:r>
              <a:rPr lang="en-IN" b="1" dirty="0"/>
              <a:t>Day 3 — Round 2, highlighted.</a:t>
            </a:r>
            <a:r>
              <a:rPr lang="en-IN" dirty="0"/>
              <a:t> Burn-rate forecast screen + first solver output land </a:t>
            </a:r>
            <a:r>
              <a:rPr lang="en-IN" i="1" dirty="0"/>
              <a:t>on the morning they're scored</a:t>
            </a:r>
            <a:r>
              <a:rPr lang="en-IN" dirty="0"/>
              <a:t>. Look at what the red cell promises: "prototype + sync + forecast LIVE." Now map that against Round 2's actual sheet parameters — Prototype Development ✓ (screens exist), Integration ✓ (two laptops syncing), Improvement ✓ (measured against the conservative Round 1 baseline the "Already working" slide deliberately set: no UI → UI; no sync → sync; query → screen). The plan doesn't just schedule work; it schedules </a:t>
            </a:r>
            <a:r>
              <a:rPr lang="en-IN" i="1" dirty="0"/>
              <a:t>scoreable deltas</a:t>
            </a:r>
            <a:r>
              <a:rPr lang="en-IN" dirty="0"/>
              <a:t>.</a:t>
            </a:r>
          </a:p>
          <a:p>
            <a:pPr rtl="0"/>
            <a:r>
              <a:rPr lang="en-IN" b="1" dirty="0"/>
              <a:t>Day 4 — emergency module, HQ dashboard, link-throttle simulator.</a:t>
            </a:r>
            <a:r>
              <a:rPr lang="en-IN" dirty="0"/>
              <a:t> The "usability polish" day, matching Round 2's usability feedback window and prepping Round 3's UX parameter. The link-throttle simulator is the sleeper item here: it's not a feature, it's demo infrastructure — the toggle that lets you </a:t>
            </a:r>
            <a:r>
              <a:rPr lang="en-IN" i="1" dirty="0"/>
              <a:t>cut the link live</a:t>
            </a:r>
            <a:r>
              <a:rPr lang="en-IN" dirty="0"/>
              <a:t> in front of the jury tomorrow. Building the demo's proof mechanism a full day before the demo is what rehearsed teams do.</a:t>
            </a:r>
          </a:p>
          <a:p>
            <a:pPr rtl="0"/>
            <a:r>
              <a:rPr lang="en-IN" b="1" dirty="0"/>
              <a:t>Day 5 — Round 3, highlighted.</a:t>
            </a:r>
            <a:r>
              <a:rPr lang="en-IN" dirty="0"/>
              <a:t> The row doesn't say "finish remaining work" — it says </a:t>
            </a:r>
            <a:r>
              <a:rPr lang="en-IN" i="1" dirty="0"/>
              <a:t>"full rehearsed demo"</a:t>
            </a:r>
            <a:r>
              <a:rPr lang="en-IN" dirty="0"/>
              <a:t> and then scripts it in one line: pack in Goa → scan Cape Town → cut link → overdue party → restore → HQ sees all. Six beats that walk the jury through all five modules and both architectural claims in about three minutes. Telling the Round 1 jury the </a:t>
            </a:r>
            <a:r>
              <a:rPr lang="en-IN" i="1" dirty="0"/>
              <a:t>choreography</a:t>
            </a:r>
            <a:r>
              <a:rPr lang="en-IN" dirty="0"/>
              <a:t> of the Round 3 demo is the deepest version of expectation-setting: on Day 5, they're not evaluating a demo, they're checking off a sequence they were promised on Day 1.</a:t>
            </a:r>
          </a:p>
          <a:p>
            <a:pPr rtl="0"/>
            <a:r>
              <a:rPr lang="en-IN" b="1" dirty="0"/>
              <a:t>The ownership footer.</a:t>
            </a:r>
            <a:r>
              <a:rPr lang="en-IN" dirty="0"/>
              <a:t> Six letters, six modules — solver, PWA/offline, sync &amp; schema, UI/UX, domain &amp; data, pitch &amp; demo — "one name per module, visible in every round." This is aimed at the </a:t>
            </a:r>
            <a:r>
              <a:rPr lang="en-IN" i="1" dirty="0"/>
              <a:t>Team work</a:t>
            </a:r>
            <a:r>
              <a:rPr lang="en-IN" dirty="0"/>
              <a:t> parameter (scored in Round 2) and at Q&amp;A dynamics: when a judge asks about sync, the anchor says "that's [C]'s module" and a different voice answers. Before the finale, replace the letters with real names — bracketed placeholders on the wall in December would undercut the whole slide.</a:t>
            </a:r>
          </a:p>
          <a:p>
            <a:pPr rtl="0"/>
            <a:r>
              <a:rPr lang="en-IN" dirty="0"/>
              <a:t>Two structural things worth pointing out to the students. First, the dependency logic is real, not decorative: log → scans → sync → forecast → emergency → dashboard is a topological order — nothing on any day depends on something scheduled later. A jury member who checks will find the plan </a:t>
            </a:r>
            <a:r>
              <a:rPr lang="en-IN" i="1" dirty="0"/>
              <a:t>compiles</a:t>
            </a:r>
            <a:r>
              <a:rPr lang="en-IN" dirty="0"/>
              <a:t>. Second, there's hidden slack: if Day 2's sync slips, Day 4 has absorbable scope (dashboard and simulator can shrink), while Days 3 and 5 — the scored days — are protected. That's schedule design, and it's fine to admit it if probed: "Day 4 is our shock absorber."</a:t>
            </a:r>
          </a:p>
          <a:p>
            <a:pPr rtl="0"/>
            <a:r>
              <a:rPr lang="en-IN" b="1" dirty="0"/>
              <a:t>How to present it (30–40 seconds)</a:t>
            </a:r>
          </a:p>
          <a:p>
            <a:pPr rtl="0"/>
            <a:r>
              <a:rPr lang="en-IN" dirty="0"/>
              <a:t>This slide should be almost entirely </a:t>
            </a:r>
            <a:r>
              <a:rPr lang="en-IN" i="1" dirty="0"/>
              <a:t>pointed at</a:t>
            </a:r>
            <a:r>
              <a:rPr lang="en-IN" dirty="0"/>
              <a:t>, not read:</a:t>
            </a:r>
          </a:p>
          <a:p>
            <a:pPr rtl="0"/>
            <a:r>
              <a:rPr lang="en-IN" b="1" dirty="0"/>
              <a:t>Frame (8 sec):</a:t>
            </a:r>
            <a:r>
              <a:rPr lang="en-IN" dirty="0"/>
              <a:t> </a:t>
            </a:r>
            <a:r>
              <a:rPr lang="en-IN" i="1" dirty="0"/>
              <a:t>"Here's our five days — laid out against your evaluation sheet, because you'll score us twice more this week and we want you to know exactly what to expect."</a:t>
            </a:r>
            <a:endParaRPr lang="en-IN" dirty="0"/>
          </a:p>
          <a:p>
            <a:pPr rtl="0"/>
            <a:r>
              <a:rPr lang="en-IN" b="1" dirty="0"/>
              <a:t>The two red cells (15 sec):</a:t>
            </a:r>
            <a:r>
              <a:rPr lang="en-IN" dirty="0"/>
              <a:t> </a:t>
            </a:r>
            <a:r>
              <a:rPr lang="en-IN" i="1" dirty="0"/>
              <a:t>"By Round 2, on Day 3, you will see three things live: the prototype, two laptops syncing, and the burn-rate forecast on screen. By Round 3, on Day 5, the full rehearsed demo — pack a barrel in Goa, scan it at Cape Town, cut the link, log an overdue party, restore, and HQ sees everything."</a:t>
            </a:r>
            <a:endParaRPr lang="en-IN" dirty="0"/>
          </a:p>
          <a:p>
            <a:pPr rtl="0"/>
            <a:r>
              <a:rPr lang="en-IN" b="1" dirty="0"/>
              <a:t>The credibility close (8 sec):</a:t>
            </a:r>
            <a:r>
              <a:rPr lang="en-IN" dirty="0"/>
              <a:t> </a:t>
            </a:r>
            <a:r>
              <a:rPr lang="en-IN" i="1" dirty="0"/>
              <a:t>"The riskiest item — sync — is on Day 2 on purpose, so it has the most recovery time. And every module has one owner — you'll hear from all six of us this week."</a:t>
            </a:r>
            <a:r>
              <a:rPr lang="en-IN" dirty="0"/>
              <a:t> Then hand the physical printout across the table: </a:t>
            </a:r>
            <a:r>
              <a:rPr lang="en-IN" i="1" dirty="0"/>
              <a:t>"This is your copy."</a:t>
            </a:r>
            <a:r>
              <a:rPr lang="en-IN" dirty="0"/>
              <a:t> A printed plan physically left with the jury is the single highest-leverage 10 rupees the team will spend — it sits in their folder next to the scoring sheets for all three rounds.</a:t>
            </a:r>
          </a:p>
          <a:p>
            <a:pPr rtl="0"/>
            <a:r>
              <a:rPr lang="en-IN" b="1" dirty="0"/>
              <a:t>Q&amp;A this slide invites</a:t>
            </a:r>
          </a:p>
          <a:p>
            <a:pPr lvl="0" rtl="0"/>
            <a:r>
              <a:rPr lang="en-IN" i="1" dirty="0"/>
              <a:t>"What if Day 2 sync fails?"</a:t>
            </a:r>
            <a:r>
              <a:rPr lang="en-IN" dirty="0"/>
              <a:t> → "Then Day 4 shrinks — dashboard and simulator are our shock absorbers. Days 3 and 5 are protected because they're your evaluation days. And worst case, the USB-stick sync from our trade-offs slide is the honest fallback — it's a designed transport, not a hack."</a:t>
            </a:r>
          </a:p>
          <a:p>
            <a:pPr lvl="0" rtl="0"/>
            <a:r>
              <a:rPr lang="en-IN" i="1" dirty="0"/>
              <a:t>"This looks optimistic — five modules in five days?"</a:t>
            </a:r>
            <a:r>
              <a:rPr lang="en-IN" dirty="0"/>
              <a:t> → "The modules are thin by design: every one is a screen over the same event log, and the log plus a full season of data already exist. The five days build </a:t>
            </a:r>
            <a:r>
              <a:rPr lang="en-IN" i="1" dirty="0"/>
              <a:t>views</a:t>
            </a:r>
            <a:r>
              <a:rPr lang="en-IN" dirty="0"/>
              <a:t>, not systems — the system predates Day 1."</a:t>
            </a:r>
          </a:p>
          <a:p>
            <a:pPr lvl="0" rtl="0"/>
            <a:r>
              <a:rPr lang="en-IN" i="1" dirty="0"/>
              <a:t>"Why is the solver only 'first output' on Day 3?"</a:t>
            </a:r>
            <a:r>
              <a:rPr lang="en-IN" dirty="0"/>
              <a:t> → "Because a correct-but-plain solver output scores on Day 3, and a polished one scores again as Improvement... no. Honestly: the solver is our deepest technical item; 'first output' is the truthful claim, and Day 4–5 harden it. We'd rather under-promise it than have it be the broken promise."</a:t>
            </a:r>
          </a:p>
          <a:p>
            <a:pPr lvl="0" rtl="0"/>
            <a:r>
              <a:rPr lang="en-IN" i="1" dirty="0"/>
              <a:t>"Who is [F]?"</a:t>
            </a:r>
            <a:r>
              <a:rPr lang="en-IN" dirty="0"/>
              <a:t> → Whoever it is should simply raise a hand. Small moment, disproportionate effect.</a:t>
            </a:r>
          </a:p>
          <a:p>
            <a:pPr rtl="0"/>
            <a:r>
              <a:rPr lang="en-IN" dirty="0"/>
              <a:t>One last connection for the team: this slide is the load-bearing wall of the whole deck's strategy. The "Already working" slide set a conservative baseline; the risk slide promised risk-front-loading; the impact slide promised a Round 3 demo moment — and this slide is where all three promises acquire </a:t>
            </a:r>
            <a:r>
              <a:rPr lang="en-IN" i="1" dirty="0"/>
              <a:t>dates</a:t>
            </a:r>
            <a:r>
              <a:rPr lang="en-IN" dirty="0"/>
              <a:t>. If the team delivers the two red cells on the two red days, the Round 2 "Improvement" and Round 3 "Implementation plan" marks are effectively banked before the finale even begins.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dirty="0"/>
              <a:t>This is the impact slide — the closer of the main deck, and the one slide that speaks to the </a:t>
            </a:r>
            <a:r>
              <a:rPr lang="en-IN" i="1" dirty="0"/>
              <a:t>non-technical</a:t>
            </a:r>
            <a:r>
              <a:rPr lang="en-IN" dirty="0"/>
              <a:t> judge. Round 1 juries are mixed: an engineer, an official, sometimes an industry person. The previous seven slides won the engineer; this one is aimed at everyone else. Its job is to answer the question that survives even a technically perfect pitch: </a:t>
            </a:r>
            <a:r>
              <a:rPr lang="en-IN" i="1" dirty="0"/>
              <a:t>"…and so what?"</a:t>
            </a:r>
            <a:r>
              <a:rPr lang="en-IN" dirty="0"/>
              <a:t> — and then hand the microphone to the navy box, which is really the first sentence of your Round 3 story, planted on day one.</a:t>
            </a:r>
          </a:p>
          <a:p>
            <a:pPr rtl="0"/>
            <a:r>
              <a:rPr lang="en-IN" b="1" dirty="0"/>
              <a:t>The five bullets — five different judges, five different currencies</a:t>
            </a:r>
          </a:p>
          <a:p>
            <a:pPr rtl="0"/>
            <a:r>
              <a:rPr lang="en-IN" dirty="0"/>
              <a:t>The list looks like a plain bullet list, but each line is denominated in a different currency of "mattering," ordered from most visceral to most visionary:</a:t>
            </a:r>
          </a:p>
          <a:p>
            <a:pPr rtl="0"/>
            <a:r>
              <a:rPr lang="en-IN" b="1" dirty="0"/>
              <a:t>Safety</a:t>
            </a:r>
            <a:r>
              <a:rPr lang="en-IN" dirty="0"/>
              <a:t> — the moral currency, deliberately first. "COMNAP-aligned" does quiet work here: it says your man-overdue alarms and MEDEVAC card follow the international Antarctic community's own safety frameworks, not rules you invented. And "minutes matter more on the ice than anywhere else" is the justification for why safety features lead a </a:t>
            </a:r>
            <a:r>
              <a:rPr lang="en-IN" i="1" dirty="0"/>
              <a:t>logistics</a:t>
            </a:r>
            <a:r>
              <a:rPr lang="en-IN" dirty="0"/>
              <a:t> pitch — on the ice, logistics </a:t>
            </a:r>
            <a:r>
              <a:rPr lang="en-IN" i="1" dirty="0"/>
              <a:t>is</a:t>
            </a:r>
            <a:r>
              <a:rPr lang="en-IN" dirty="0"/>
              <a:t> safety. If a judge remembers one bullet, you want it to be this one, because no one argues against it.</a:t>
            </a:r>
          </a:p>
          <a:p>
            <a:pPr rtl="0"/>
            <a:r>
              <a:rPr lang="en-IN" b="1" dirty="0"/>
              <a:t>Economic</a:t>
            </a:r>
            <a:r>
              <a:rPr lang="en-IN" dirty="0"/>
              <a:t> — the ROI currency, and note the craft: you never claim what </a:t>
            </a:r>
            <a:r>
              <a:rPr lang="en-IN" dirty="0" err="1"/>
              <a:t>PolarOS</a:t>
            </a:r>
            <a:r>
              <a:rPr lang="en-IN" dirty="0"/>
              <a:t> </a:t>
            </a:r>
            <a:r>
              <a:rPr lang="en-IN" i="1" dirty="0"/>
              <a:t>costs</a:t>
            </a:r>
            <a:r>
              <a:rPr lang="en-IN" dirty="0"/>
              <a:t> or </a:t>
            </a:r>
            <a:r>
              <a:rPr lang="en-IN" i="1" dirty="0"/>
              <a:t>earns</a:t>
            </a:r>
            <a:r>
              <a:rPr lang="en-IN" dirty="0"/>
              <a:t> (numbers you'd have to defend). Instead you anchor against costs the jury can verify: a single Basler charter is crore-scale, and a winter fuel shortfall means an emergency response costing far more. The argument is asymmetric on purpose — "if this system prevents </a:t>
            </a:r>
            <a:r>
              <a:rPr lang="en-IN" i="1" dirty="0"/>
              <a:t>one</a:t>
            </a:r>
            <a:r>
              <a:rPr lang="en-IN" dirty="0"/>
              <a:t> such event, </a:t>
            </a:r>
            <a:r>
              <a:rPr lang="en-IN" i="1" dirty="0"/>
              <a:t>once</a:t>
            </a:r>
            <a:r>
              <a:rPr lang="en-IN" dirty="0"/>
              <a:t>, it has paid for itself many times over." Avoided-cost framing is unfalsifiable in the good sense: the jury can't dispute your revenue model because you haven't offered one; you've offered their own expenditure data back to them.</a:t>
            </a:r>
          </a:p>
          <a:p>
            <a:pPr rtl="0"/>
            <a:r>
              <a:rPr lang="en-IN" b="1" dirty="0"/>
              <a:t>Environmental</a:t>
            </a:r>
            <a:r>
              <a:rPr lang="en-IN" dirty="0"/>
              <a:t> — the treaty currency. This bullet matters more than students usually realize: Antarctica is governed by the Environmental Protocol, and India's own Antarctic Act 2022 carries environmental obligations. "Right-sized fuel shipments, fewer emergency flights, less material abandoned on the ice" ties your forecasting feature directly to compliance — over-shipping isn't just wasteful there, it's a liability, because what goes to Antarctica must eventually leave it.</a:t>
            </a:r>
          </a:p>
          <a:p>
            <a:pPr rtl="0"/>
            <a:r>
              <a:rPr lang="en-IN" b="1" dirty="0"/>
              <a:t>Strategic</a:t>
            </a:r>
            <a:r>
              <a:rPr lang="en-IN" dirty="0"/>
              <a:t> — the timing currency, and the sharpest bullet on the slide. "The vessel charter ends in 2026" is a real, checkable fact (the FESCO contract), and it converts your project from "nice someday" to "needed </a:t>
            </a:r>
            <a:r>
              <a:rPr lang="en-IN" i="1" dirty="0"/>
              <a:t>now</a:t>
            </a:r>
            <a:r>
              <a:rPr lang="en-IN" dirty="0"/>
              <a:t>": NCPOR is about to negotiate its biggest logistics contract, and today it will do so on institutional memory and spreadsheets. A control tower with a season of custody and consumption data makes that tender </a:t>
            </a:r>
            <a:r>
              <a:rPr lang="en-IN" i="1" dirty="0"/>
              <a:t>data-driven</a:t>
            </a:r>
            <a:r>
              <a:rPr lang="en-IN" dirty="0"/>
              <a:t> — how much capacity to charter, which cargo profile, what the last vessel actually carried. This is the bullet that makes an administrator lean forward, because tenders are their world.</a:t>
            </a:r>
          </a:p>
          <a:p>
            <a:pPr rtl="0"/>
            <a:r>
              <a:rPr lang="en-IN" b="1" dirty="0"/>
              <a:t>Reusable pattern</a:t>
            </a:r>
            <a:r>
              <a:rPr lang="en-IN" dirty="0"/>
              <a:t> — the scale currency, answering the unspoken "isn't this a niche system for 40 people?" The reframe: </a:t>
            </a:r>
            <a:r>
              <a:rPr lang="en-IN" dirty="0" err="1"/>
              <a:t>PolarOS</a:t>
            </a:r>
            <a:r>
              <a:rPr lang="en-IN" dirty="0"/>
              <a:t> isn't an Antarctica product, it's a solution to a </a:t>
            </a:r>
            <a:r>
              <a:rPr lang="en-IN" i="1" dirty="0"/>
              <a:t>pattern</a:t>
            </a:r>
            <a:r>
              <a:rPr lang="en-IN" dirty="0"/>
              <a:t> — "low-bandwidth, high-stakes supply chains" — and India has many: Himadri (India's Arctic station — same ministry, near-zero porting cost, the easiest expansion claim you can make), BRO's high-altitude posts (winter-cut-off Himalayan logistics), ONGC offshore platforms, island territories. One phrase to say exactly as written — </a:t>
            </a:r>
            <a:r>
              <a:rPr lang="en-IN" i="1" dirty="0"/>
              <a:t>"every Indian low-bandwidth, high-stakes supply chain"</a:t>
            </a:r>
            <a:r>
              <a:rPr lang="en-IN" dirty="0"/>
              <a:t> — because it names a category the jury will start populating in their own heads, which is precisely what you want a closing slide to trigger.</a:t>
            </a:r>
          </a:p>
          <a:p>
            <a:pPr rtl="0"/>
            <a:r>
              <a:rPr lang="en-IN" dirty="0"/>
              <a:t>Notice the ordering logic: lives → money → planet → institution → nation. Each bullet widens the circle. That's why "reusable pattern" is last — the slide literally zooms out.</a:t>
            </a:r>
          </a:p>
          <a:p>
            <a:pPr rtl="0"/>
            <a:r>
              <a:rPr lang="en-IN" b="1" dirty="0"/>
              <a:t>The navy box — why it's here and not just on the demo day</a:t>
            </a:r>
          </a:p>
          <a:p>
            <a:pPr rtl="0"/>
            <a:r>
              <a:rPr lang="en-IN" i="1" dirty="0"/>
              <a:t>"Same headcount, same burn — Maitri crosses zero on 2 Oct, seven weeks before the ship. One screen turns an inventory list into a decision that has to be made in March."</a:t>
            </a:r>
            <a:endParaRPr lang="en-IN" dirty="0"/>
          </a:p>
          <a:p>
            <a:pPr rtl="0"/>
            <a:r>
              <a:rPr lang="en-IN" dirty="0"/>
              <a:t>Three things this box is doing:</a:t>
            </a:r>
          </a:p>
          <a:p>
            <a:pPr lvl="0" rtl="0"/>
            <a:r>
              <a:rPr lang="en-IN" b="1" dirty="0"/>
              <a:t>It ends the deck on an image, not an abstraction.</a:t>
            </a:r>
            <a:r>
              <a:rPr lang="en-IN" dirty="0"/>
              <a:t> After five bullets of impact-speak, the box drops back to one concrete screen with one date on it. Juries forget bullet lists; they remember "Maitri crosses zero on 2 Oct."</a:t>
            </a:r>
          </a:p>
          <a:p>
            <a:pPr lvl="0" rtl="0"/>
            <a:r>
              <a:rPr lang="en-IN" b="1" dirty="0"/>
              <a:t>The second sentence is the deck's deepest idea:</a:t>
            </a:r>
            <a:r>
              <a:rPr lang="en-IN" dirty="0"/>
              <a:t> </a:t>
            </a:r>
            <a:r>
              <a:rPr lang="en-IN" i="1" dirty="0"/>
              <a:t>an inventory list becomes a decision.</a:t>
            </a:r>
            <a:r>
              <a:rPr lang="en-IN" dirty="0"/>
              <a:t> A stock count of "480 barrels" requires interpretation; a date seven weeks before the ship </a:t>
            </a:r>
            <a:r>
              <a:rPr lang="en-IN" i="1" dirty="0"/>
              <a:t>demands action</a:t>
            </a:r>
            <a:r>
              <a:rPr lang="en-IN" dirty="0"/>
              <a:t> — and "a decision that has to be made in March" pins it to the calendar: adjust rationing, request DROMLAN capacity, or re-plan the voyage, months ahead. Data → decision is the entire value proposition of </a:t>
            </a:r>
            <a:r>
              <a:rPr lang="en-IN" dirty="0" err="1"/>
              <a:t>PolarOS</a:t>
            </a:r>
            <a:r>
              <a:rPr lang="en-IN" dirty="0"/>
              <a:t> compressed into one sentence.</a:t>
            </a:r>
          </a:p>
          <a:p>
            <a:pPr lvl="0" rtl="0"/>
            <a:r>
              <a:rPr lang="en-IN" b="1" dirty="0"/>
              <a:t>It's a promissory note the jury will collect.</a:t>
            </a:r>
            <a:r>
              <a:rPr lang="en-IN" dirty="0"/>
              <a:t> "The demo moment we are building toward" explicitly tells the Round 1 jury what Round 3's climax will be. Same judges, same sheets, three rounds — when that exact screen appears on Day 5 showing that exact date, the payoff was set up five days earlier. You're not just pitching; you're serializing a story.</a:t>
            </a:r>
          </a:p>
          <a:p>
            <a:pPr rtl="0"/>
            <a:r>
              <a:rPr lang="en-IN" b="1" dirty="0"/>
              <a:t>How to present it (40–50 seconds)</a:t>
            </a:r>
          </a:p>
          <a:p>
            <a:pPr rtl="0"/>
            <a:r>
              <a:rPr lang="en-IN" dirty="0"/>
              <a:t>This is the emotional beat of the pitch — slow down, and if there's a speaker handoff planned, this is the natural slide for the anchor to take back.</a:t>
            </a:r>
          </a:p>
          <a:p>
            <a:pPr rtl="0"/>
            <a:r>
              <a:rPr lang="en-IN" b="1" dirty="0"/>
              <a:t>Frame (5 sec):</a:t>
            </a:r>
            <a:r>
              <a:rPr lang="en-IN" dirty="0"/>
              <a:t> </a:t>
            </a:r>
            <a:r>
              <a:rPr lang="en-IN" i="1" dirty="0"/>
              <a:t>"So why should anyone outside this room care? Five reasons, five different kinds."</a:t>
            </a:r>
            <a:endParaRPr lang="en-IN" dirty="0"/>
          </a:p>
          <a:p>
            <a:pPr rtl="0"/>
            <a:r>
              <a:rPr lang="en-IN" b="1" dirty="0"/>
              <a:t>Sweep the bullets (20 sec)</a:t>
            </a:r>
            <a:r>
              <a:rPr lang="en-IN" dirty="0"/>
              <a:t> — one clause each, don't read: </a:t>
            </a:r>
            <a:r>
              <a:rPr lang="en-IN" i="1" dirty="0"/>
              <a:t>"Safety — on the ice, minutes matter more than anywhere else, and our alarms follow COMNAP's own frameworks. Money — one avoided Basler charter or one avoided fuel emergency pays for this many times over. Environment — right-sized shipments mean less left on the ice. Timing — the vessel charter ends in 2026, and the next tender can be data-driven instead of memory-driven. And the pattern travels — Himadri in the Arctic, BRO posts, offshore platforms: every Indian low-bandwidth, high-stakes supply chain."</a:t>
            </a:r>
            <a:endParaRPr lang="en-IN" dirty="0"/>
          </a:p>
          <a:p>
            <a:pPr rtl="0"/>
            <a:r>
              <a:rPr lang="en-IN" b="1" dirty="0"/>
              <a:t>The box (15 sec)</a:t>
            </a:r>
            <a:r>
              <a:rPr lang="en-IN" dirty="0"/>
              <a:t> — shift register, speak it almost verbatim, then stop: </a:t>
            </a:r>
            <a:r>
              <a:rPr lang="en-IN" i="1" dirty="0"/>
              <a:t>"And everything we build this week points at one screen: same headcount, same burn — Maitri crosses zero on October 2nd, seven weeks before the ship can do anything about it. One screen that turns an inventory list into a decision that has to be made in March."</a:t>
            </a:r>
            <a:r>
              <a:rPr lang="en-IN" dirty="0"/>
              <a:t> Hold the silence for a beat. Then: </a:t>
            </a:r>
            <a:r>
              <a:rPr lang="en-IN" i="1" dirty="0"/>
              <a:t>"That's what you'll see by Round 3."</a:t>
            </a:r>
            <a:r>
              <a:rPr lang="en-IN" dirty="0"/>
              <a:t> End of pitch — the remaining slides are backup.</a:t>
            </a:r>
          </a:p>
          <a:p>
            <a:pPr rtl="0"/>
            <a:r>
              <a:rPr lang="en-IN" b="1" dirty="0"/>
              <a:t>Q&amp;A this slide invites</a:t>
            </a:r>
          </a:p>
          <a:p>
            <a:pPr lvl="0" rtl="0"/>
            <a:r>
              <a:rPr lang="en-IN" i="1" dirty="0"/>
              <a:t>"Crore-scale — where's that number from?"</a:t>
            </a:r>
            <a:r>
              <a:rPr lang="en-IN" dirty="0"/>
              <a:t> → "Intra-continental Antarctic charters via DROMLAN/ALCI are widely reported in that range, and NCPOR's own advisories call these flights 'very expensive' requiring advance planning. We use it as an order of magnitude for avoided cost, not a quotation — the argument survives even at half the figure."</a:t>
            </a:r>
          </a:p>
          <a:p>
            <a:pPr lvl="0" rtl="0"/>
            <a:r>
              <a:rPr lang="en-IN" i="1" dirty="0"/>
              <a:t>"Who pays for this? What's the business model?"</a:t>
            </a:r>
            <a:r>
              <a:rPr lang="en-IN" dirty="0"/>
              <a:t> → "For SIH, the customer is NCPOR and the deliverable is a working pilot — one season, one station. Beyond that, the honest model is government deployment plus adaptation for the other 'low-bandwidth' users; we're not pretending this is a SaaS startup, and the jury shouldn't want us to."</a:t>
            </a:r>
          </a:p>
          <a:p>
            <a:pPr lvl="0" rtl="0"/>
            <a:r>
              <a:rPr lang="en-IN" i="1" dirty="0"/>
              <a:t>"Himadri has decent connectivity — does the pattern really transfer?"</a:t>
            </a:r>
            <a:r>
              <a:rPr lang="en-IN" dirty="0"/>
              <a:t> → "Even better — our system doesn't </a:t>
            </a:r>
            <a:r>
              <a:rPr lang="en-IN" i="1" dirty="0"/>
              <a:t>require</a:t>
            </a:r>
            <a:r>
              <a:rPr lang="en-IN" dirty="0"/>
              <a:t> disconnection, it </a:t>
            </a:r>
            <a:r>
              <a:rPr lang="en-IN" i="1" dirty="0"/>
              <a:t>survives</a:t>
            </a:r>
            <a:r>
              <a:rPr lang="en-IN" dirty="0"/>
              <a:t> it. On a well-connected site it simply syncs continuously; the audit trail and forecasting still carry the value."</a:t>
            </a:r>
          </a:p>
          <a:p>
            <a:pPr lvl="0" rtl="0"/>
            <a:r>
              <a:rPr lang="en-IN" i="1" dirty="0"/>
              <a:t>"Isn't 2 Oct just your synthetic data?"</a:t>
            </a:r>
            <a:r>
              <a:rPr lang="en-IN" dirty="0"/>
              <a:t> → "Yes — and that's the point of the demo: the pipeline that produced that date is real. Feed it real consumption events and the same screen produces the real date. The number is illustrative; the capability is not."</a:t>
            </a:r>
          </a:p>
          <a:p>
            <a:pPr rtl="0"/>
            <a:r>
              <a:rPr lang="en-IN" dirty="0"/>
              <a:t>One team note: this slide and the hard-number opener (slide 2) are mirror images — "12 months is the cost of a missed crate" opens the wound, "a decision that has to be made in March" closes it with the cure. Whoever presents slide 2 should ideally present this one too; the jury hears the story arc land in the same voice.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6"/>
        </a:solidFill>
        <a:effectLst/>
      </p:bgPr>
    </p:bg>
    <p:spTree>
      <p:nvGrpSpPr>
        <p:cNvPr id="1" name=""/>
        <p:cNvGrpSpPr/>
        <p:nvPr/>
      </p:nvGrpSpPr>
      <p:grpSpPr>
        <a:xfrm>
          <a:off x="0" y="0"/>
          <a:ext cx="0" cy="0"/>
          <a:chOff x="0" y="0"/>
          <a:chExt cx="0" cy="0"/>
        </a:xfrm>
      </p:grpSpPr>
      <p:sp>
        <p:nvSpPr>
          <p:cNvPr id="2" name="Text 0"/>
          <p:cNvSpPr txBox="1"/>
          <p:nvPr/>
        </p:nvSpPr>
        <p:spPr>
          <a:xfrm>
            <a:off x="731520" y="1828800"/>
            <a:ext cx="10698480" cy="100584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PolarOS</a:t>
            </a:r>
            <a:endParaRPr lang="en-US" sz="5400" dirty="0"/>
          </a:p>
        </p:txBody>
      </p:sp>
      <p:sp>
        <p:nvSpPr>
          <p:cNvPr id="3" name="Text 1"/>
          <p:cNvSpPr txBox="1"/>
          <p:nvPr/>
        </p:nvSpPr>
        <p:spPr>
          <a:xfrm>
            <a:off x="731520" y="2880360"/>
            <a:ext cx="10058400" cy="822960"/>
          </a:xfrm>
          <a:prstGeom prst="rect">
            <a:avLst/>
          </a:prstGeom>
          <a:noFill/>
          <a:ln/>
        </p:spPr>
        <p:txBody>
          <a:bodyPr wrap="square" lIns="0" tIns="0" rIns="0" bIns="0" rtlCol="0" anchor="ctr"/>
          <a:lstStyle/>
          <a:p>
            <a:pPr marL="0" indent="0">
              <a:buNone/>
            </a:pPr>
            <a:r>
              <a:rPr lang="en-US" sz="2000" dirty="0">
                <a:solidFill>
                  <a:srgbClr val="BBD4EA"/>
                </a:solidFill>
                <a:latin typeface="Calibri" pitchFamily="34" charset="0"/>
                <a:ea typeface="Calibri" pitchFamily="34" charset="-122"/>
                <a:cs typeface="Calibri" pitchFamily="34" charset="-120"/>
              </a:rPr>
              <a:t>An offline-first control tower for India's once-a-year Antarctic supply chain — from Goa to the winter-over</a:t>
            </a:r>
            <a:endParaRPr lang="en-US" sz="2000" dirty="0"/>
          </a:p>
        </p:txBody>
      </p:sp>
      <p:sp>
        <p:nvSpPr>
          <p:cNvPr id="4" name="Text 2"/>
          <p:cNvSpPr txBox="1"/>
          <p:nvPr/>
        </p:nvSpPr>
        <p:spPr>
          <a:xfrm>
            <a:off x="731520" y="4937760"/>
            <a:ext cx="10698480" cy="1188720"/>
          </a:xfrm>
          <a:prstGeom prst="rect">
            <a:avLst/>
          </a:prstGeom>
          <a:noFill/>
          <a:ln/>
        </p:spPr>
        <p:txBody>
          <a:bodyPr wrap="square" lIns="0" tIns="0" rIns="0" bIns="0" rtlCol="0" anchor="ctr"/>
          <a:lstStyle/>
          <a:p>
            <a:pPr marL="0" indent="0">
              <a:spcAft>
                <a:spcPts val="400"/>
              </a:spcAft>
              <a:buNone/>
            </a:pPr>
            <a:r>
              <a:rPr lang="en-US" sz="1300" dirty="0">
                <a:solidFill>
                  <a:srgbClr val="D8E6F2"/>
                </a:solidFill>
                <a:latin typeface="Calibri" pitchFamily="34" charset="0"/>
                <a:ea typeface="Calibri" pitchFamily="34" charset="-122"/>
                <a:cs typeface="Calibri" pitchFamily="34" charset="-120"/>
              </a:rPr>
              <a:t>SIH26062 — Integrated Polar Expedition Logistics and Asset Management System</a:t>
            </a:r>
            <a:endParaRPr lang="en-US" sz="1300" dirty="0"/>
          </a:p>
          <a:p>
            <a:pPr marL="0" indent="0">
              <a:spcAft>
                <a:spcPts val="400"/>
              </a:spcAft>
              <a:buNone/>
            </a:pPr>
            <a:r>
              <a:rPr lang="en-US" sz="1300" dirty="0">
                <a:solidFill>
                  <a:srgbClr val="D8E6F2"/>
                </a:solidFill>
                <a:latin typeface="Calibri" pitchFamily="34" charset="0"/>
                <a:ea typeface="Calibri" pitchFamily="34" charset="-122"/>
                <a:cs typeface="Calibri" pitchFamily="34" charset="-120"/>
              </a:rPr>
              <a:t>Ministry of Earth Sciences (NCPOR) · Software · Theme: Toys &amp; Games (as listed on portal)</a:t>
            </a:r>
            <a:endParaRPr lang="en-US" sz="1300" dirty="0"/>
          </a:p>
          <a:p>
            <a:pPr marL="0" indent="0">
              <a:spcAft>
                <a:spcPts val="400"/>
              </a:spcAft>
              <a:buNone/>
            </a:pPr>
            <a:r>
              <a:rPr lang="en-US" sz="1300" dirty="0">
                <a:solidFill>
                  <a:srgbClr val="D8E6F2"/>
                </a:solidFill>
                <a:latin typeface="Calibri" pitchFamily="34" charset="0"/>
                <a:ea typeface="Calibri" pitchFamily="34" charset="-122"/>
                <a:cs typeface="Calibri" pitchFamily="34" charset="-120"/>
              </a:rPr>
              <a:t>Team [Registered Name] · Team ID [ID] · Swami Vivekananda Institute of Science &amp; Technology, Kolkata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The problem, in one number</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Why Antarctic logistics is unlike any other supply chain</a:t>
            </a:r>
            <a:endParaRPr lang="en-US" sz="1200" dirty="0"/>
          </a:p>
        </p:txBody>
      </p:sp>
      <p:sp>
        <p:nvSpPr>
          <p:cNvPr id="4" name="Text 2"/>
          <p:cNvSpPr txBox="1"/>
          <p:nvPr/>
        </p:nvSpPr>
        <p:spPr>
          <a:xfrm>
            <a:off x="548640" y="1463040"/>
            <a:ext cx="4206240" cy="1097280"/>
          </a:xfrm>
          <a:prstGeom prst="rect">
            <a:avLst/>
          </a:prstGeom>
          <a:noFill/>
          <a:ln/>
        </p:spPr>
        <p:txBody>
          <a:bodyPr wrap="square" lIns="0" tIns="0" rIns="0" bIns="0" rtlCol="0" anchor="ctr"/>
          <a:lstStyle/>
          <a:p>
            <a:pPr marL="0" indent="0">
              <a:buNone/>
            </a:pPr>
            <a:r>
              <a:rPr lang="en-US" sz="6000" b="1" dirty="0">
                <a:solidFill>
                  <a:srgbClr val="B91C1C"/>
                </a:solidFill>
                <a:latin typeface="Calibri" pitchFamily="34" charset="0"/>
                <a:ea typeface="Calibri" pitchFamily="34" charset="-122"/>
                <a:cs typeface="Calibri" pitchFamily="34" charset="-120"/>
              </a:rPr>
              <a:t>12 months</a:t>
            </a:r>
            <a:endParaRPr lang="en-US" sz="6000" dirty="0"/>
          </a:p>
        </p:txBody>
      </p:sp>
      <p:sp>
        <p:nvSpPr>
          <p:cNvPr id="5" name="Text 3"/>
          <p:cNvSpPr txBox="1"/>
          <p:nvPr/>
        </p:nvSpPr>
        <p:spPr>
          <a:xfrm>
            <a:off x="340963" y="2606039"/>
            <a:ext cx="4779677" cy="2368917"/>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is the cost of one missed crate. Resupply happens once a year, in a Dec–Feb window; for the other 9 months, 15–25 people at Maitri and Bharati live on what already arrived.</a:t>
            </a:r>
            <a:endParaRPr lang="en-US" sz="1400" dirty="0"/>
          </a:p>
        </p:txBody>
      </p:sp>
      <p:sp>
        <p:nvSpPr>
          <p:cNvPr id="6" name="Shape 4"/>
          <p:cNvSpPr/>
          <p:nvPr/>
        </p:nvSpPr>
        <p:spPr>
          <a:xfrm>
            <a:off x="5120640" y="1463040"/>
            <a:ext cx="6492240" cy="4663440"/>
          </a:xfrm>
          <a:prstGeom prst="roundRect">
            <a:avLst>
              <a:gd name="adj" fmla="val 1569"/>
            </a:avLst>
          </a:prstGeom>
          <a:solidFill>
            <a:srgbClr val="EAF2F8"/>
          </a:solidFill>
          <a:ln w="12700">
            <a:solidFill>
              <a:srgbClr val="C5D3E0"/>
            </a:solidFill>
            <a:prstDash val="solid"/>
          </a:ln>
        </p:spPr>
        <p:txBody>
          <a:bodyPr/>
          <a:lstStyle/>
          <a:p>
            <a:endParaRPr lang="en-US"/>
          </a:p>
        </p:txBody>
      </p:sp>
      <p:sp>
        <p:nvSpPr>
          <p:cNvPr id="7" name="Text 5"/>
          <p:cNvSpPr txBox="1"/>
          <p:nvPr/>
        </p:nvSpPr>
        <p:spPr>
          <a:xfrm>
            <a:off x="5394960" y="1691640"/>
            <a:ext cx="5943600" cy="4297680"/>
          </a:xfrm>
          <a:prstGeom prst="rect">
            <a:avLst/>
          </a:prstGeom>
          <a:noFill/>
          <a:ln/>
        </p:spPr>
        <p:txBody>
          <a:bodyPr wrap="square" lIns="0" tIns="0" rIns="0" bIns="0" rtlCol="0" anchor="ctr"/>
          <a:lstStyle/>
          <a:p>
            <a:pPr marL="0" indent="0">
              <a:spcAft>
                <a:spcPts val="700"/>
              </a:spcAft>
              <a:buNone/>
            </a:pPr>
            <a:r>
              <a:rPr lang="en-US" sz="1250" b="1" dirty="0">
                <a:solidFill>
                  <a:srgbClr val="0B3D66"/>
                </a:solidFill>
                <a:latin typeface="Calibri" pitchFamily="34" charset="0"/>
                <a:ea typeface="Calibri" pitchFamily="34" charset="-122"/>
                <a:cs typeface="Calibri" pitchFamily="34" charset="-120"/>
              </a:rPr>
              <a:t>How it runs today (from NCPOR's own notices):</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Cargo declared on a PDF form (AL-1403-O); boxes hand-marked “44 ISEA, Box 1 of 5” — that marking IS the tracking system</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Hazardous cargo (Jet A1, Li-ion, chemicals) flagged by e-mail “intimation”; arranged separately at Cape Town</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Station inventory lives in registers and spreadsheets — HQ in Goa cannot see stock levels in real time</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Basler flights carry ≤1,500–1,800 kg (weather-dependent) incl. people; heavy cargo ship-only; heli only when the vessel is near</a:t>
            </a:r>
            <a:endParaRPr lang="en-US" sz="1250" dirty="0"/>
          </a:p>
          <a:p>
            <a:pPr marL="342900" indent="-342900">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Field parties tracked by radio calls and logbooks; no automatic overdue alarm</a:t>
            </a:r>
            <a:endParaRPr lang="en-US" sz="1250" dirty="0"/>
          </a:p>
        </p:txBody>
      </p:sp>
      <p:sp>
        <p:nvSpPr>
          <p:cNvPr id="8" name="Text 6"/>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9" name="Text 7"/>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The solution in one line</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Five PS asks → five modules on one event log</a:t>
            </a:r>
            <a:endParaRPr lang="en-US" sz="1200" dirty="0"/>
          </a:p>
        </p:txBody>
      </p:sp>
      <p:sp>
        <p:nvSpPr>
          <p:cNvPr id="4" name="Shape 2"/>
          <p:cNvSpPr/>
          <p:nvPr/>
        </p:nvSpPr>
        <p:spPr>
          <a:xfrm>
            <a:off x="548640" y="1325880"/>
            <a:ext cx="11064240" cy="777240"/>
          </a:xfrm>
          <a:prstGeom prst="roundRect">
            <a:avLst>
              <a:gd name="adj" fmla="val 7059"/>
            </a:avLst>
          </a:prstGeom>
          <a:solidFill>
            <a:srgbClr val="0B3D66"/>
          </a:solidFill>
          <a:ln/>
        </p:spPr>
        <p:txBody>
          <a:bodyPr/>
          <a:lstStyle/>
          <a:p>
            <a:endParaRPr lang="en-US"/>
          </a:p>
        </p:txBody>
      </p:sp>
      <p:sp>
        <p:nvSpPr>
          <p:cNvPr id="5" name="Text 3"/>
          <p:cNvSpPr txBox="1"/>
          <p:nvPr/>
        </p:nvSpPr>
        <p:spPr>
          <a:xfrm>
            <a:off x="777240" y="1389888"/>
            <a:ext cx="10607040"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One append-only event log, three nodes (Goa HQ · vessel · stations). Every screen works with zero connectivity and syncs when a link appears.</a:t>
            </a:r>
            <a:endParaRPr lang="en-US" sz="1500" dirty="0"/>
          </a:p>
        </p:txBody>
      </p:sp>
      <p:sp>
        <p:nvSpPr>
          <p:cNvPr id="6" name="Shape 4"/>
          <p:cNvSpPr/>
          <p:nvPr/>
        </p:nvSpPr>
        <p:spPr>
          <a:xfrm>
            <a:off x="548640" y="2331720"/>
            <a:ext cx="283464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7" name="Text 5"/>
          <p:cNvSpPr txBox="1"/>
          <p:nvPr/>
        </p:nvSpPr>
        <p:spPr>
          <a:xfrm>
            <a:off x="685800" y="2331720"/>
            <a:ext cx="2651760" cy="676656"/>
          </a:xfrm>
          <a:prstGeom prst="rect">
            <a:avLst/>
          </a:prstGeom>
          <a:noFill/>
          <a:ln/>
        </p:spPr>
        <p:txBody>
          <a:bodyPr wrap="square" lIns="0" tIns="0" rIns="0" bIns="0" rtlCol="0" anchor="ctr"/>
          <a:lstStyle/>
          <a:p>
            <a:pPr marL="0" indent="0">
              <a:buNone/>
            </a:pPr>
            <a:r>
              <a:rPr lang="en-US" sz="1300" b="1" dirty="0">
                <a:solidFill>
                  <a:srgbClr val="0B3D66"/>
                </a:solidFill>
                <a:latin typeface="Calibri" pitchFamily="34" charset="0"/>
                <a:ea typeface="Calibri" pitchFamily="34" charset="-122"/>
                <a:cs typeface="Calibri" pitchFamily="34" charset="-120"/>
              </a:rPr>
              <a:t>Expedition planning</a:t>
            </a:r>
            <a:endParaRPr lang="en-US" sz="1300" dirty="0"/>
          </a:p>
        </p:txBody>
      </p:sp>
      <p:sp>
        <p:nvSpPr>
          <p:cNvPr id="8" name="Text 6"/>
          <p:cNvSpPr txBox="1"/>
          <p:nvPr/>
        </p:nvSpPr>
        <p:spPr>
          <a:xfrm>
            <a:off x="3611880" y="2331720"/>
            <a:ext cx="8001000" cy="676656"/>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Season Gantt + capacity solver: assigns every manifest line to ship / Basler / heli within real weight limits; flags what cannot make the season</a:t>
            </a:r>
            <a:endParaRPr lang="en-US" sz="1200" dirty="0"/>
          </a:p>
        </p:txBody>
      </p:sp>
      <p:sp>
        <p:nvSpPr>
          <p:cNvPr id="9" name="Shape 7"/>
          <p:cNvSpPr/>
          <p:nvPr/>
        </p:nvSpPr>
        <p:spPr>
          <a:xfrm>
            <a:off x="548640" y="3118104"/>
            <a:ext cx="283464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10" name="Text 8"/>
          <p:cNvSpPr txBox="1"/>
          <p:nvPr/>
        </p:nvSpPr>
        <p:spPr>
          <a:xfrm>
            <a:off x="685800" y="3118104"/>
            <a:ext cx="2651760" cy="676656"/>
          </a:xfrm>
          <a:prstGeom prst="rect">
            <a:avLst/>
          </a:prstGeom>
          <a:noFill/>
          <a:ln/>
        </p:spPr>
        <p:txBody>
          <a:bodyPr wrap="square" lIns="0" tIns="0" rIns="0" bIns="0" rtlCol="0" anchor="ctr"/>
          <a:lstStyle/>
          <a:p>
            <a:pPr marL="0" indent="0">
              <a:buNone/>
            </a:pPr>
            <a:r>
              <a:rPr lang="en-US" sz="1300" b="1" dirty="0">
                <a:solidFill>
                  <a:srgbClr val="0B3D66"/>
                </a:solidFill>
                <a:latin typeface="Calibri" pitchFamily="34" charset="0"/>
                <a:ea typeface="Calibri" pitchFamily="34" charset="-122"/>
                <a:cs typeface="Calibri" pitchFamily="34" charset="-120"/>
              </a:rPr>
              <a:t>Cargo tracking</a:t>
            </a:r>
            <a:endParaRPr lang="en-US" sz="1300" dirty="0"/>
          </a:p>
        </p:txBody>
      </p:sp>
      <p:sp>
        <p:nvSpPr>
          <p:cNvPr id="11" name="Text 9"/>
          <p:cNvSpPr txBox="1"/>
          <p:nvPr/>
        </p:nvSpPr>
        <p:spPr>
          <a:xfrm>
            <a:off x="3611880" y="3118104"/>
            <a:ext cx="8001000" cy="676656"/>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QR at packing; scan at every custody handover Goa → Mumbai → Cape Town → vessel → station; hazard-class packing checklist</a:t>
            </a:r>
            <a:endParaRPr lang="en-US" sz="1200" dirty="0"/>
          </a:p>
        </p:txBody>
      </p:sp>
      <p:sp>
        <p:nvSpPr>
          <p:cNvPr id="12" name="Shape 10"/>
          <p:cNvSpPr/>
          <p:nvPr/>
        </p:nvSpPr>
        <p:spPr>
          <a:xfrm>
            <a:off x="548640" y="3904488"/>
            <a:ext cx="283464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13" name="Text 11"/>
          <p:cNvSpPr txBox="1"/>
          <p:nvPr/>
        </p:nvSpPr>
        <p:spPr>
          <a:xfrm>
            <a:off x="685800" y="3904488"/>
            <a:ext cx="2651760" cy="676656"/>
          </a:xfrm>
          <a:prstGeom prst="rect">
            <a:avLst/>
          </a:prstGeom>
          <a:noFill/>
          <a:ln/>
        </p:spPr>
        <p:txBody>
          <a:bodyPr wrap="square" lIns="0" tIns="0" rIns="0" bIns="0" rtlCol="0" anchor="ctr"/>
          <a:lstStyle/>
          <a:p>
            <a:pPr marL="0" indent="0">
              <a:buNone/>
            </a:pPr>
            <a:r>
              <a:rPr lang="en-US" sz="1300" b="1" dirty="0">
                <a:solidFill>
                  <a:srgbClr val="0B3D66"/>
                </a:solidFill>
                <a:latin typeface="Calibri" pitchFamily="34" charset="0"/>
                <a:ea typeface="Calibri" pitchFamily="34" charset="-122"/>
                <a:cs typeface="Calibri" pitchFamily="34" charset="-120"/>
              </a:rPr>
              <a:t>Inventory</a:t>
            </a:r>
            <a:endParaRPr lang="en-US" sz="1300" dirty="0"/>
          </a:p>
        </p:txBody>
      </p:sp>
      <p:sp>
        <p:nvSpPr>
          <p:cNvPr id="14" name="Text 12"/>
          <p:cNvSpPr txBox="1"/>
          <p:nvPr/>
        </p:nvSpPr>
        <p:spPr>
          <a:xfrm>
            <a:off x="3611880" y="3904488"/>
            <a:ext cx="8001000" cy="676656"/>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Per-station stock ledger + winter-over burn-rate forecast: the date diesel or food runs out vs. the next ship</a:t>
            </a:r>
            <a:endParaRPr lang="en-US" sz="1200" dirty="0"/>
          </a:p>
        </p:txBody>
      </p:sp>
      <p:sp>
        <p:nvSpPr>
          <p:cNvPr id="15" name="Shape 13"/>
          <p:cNvSpPr/>
          <p:nvPr/>
        </p:nvSpPr>
        <p:spPr>
          <a:xfrm>
            <a:off x="548640" y="4690872"/>
            <a:ext cx="283464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16" name="Text 14"/>
          <p:cNvSpPr txBox="1"/>
          <p:nvPr/>
        </p:nvSpPr>
        <p:spPr>
          <a:xfrm>
            <a:off x="685800" y="4690872"/>
            <a:ext cx="2651760" cy="676656"/>
          </a:xfrm>
          <a:prstGeom prst="rect">
            <a:avLst/>
          </a:prstGeom>
          <a:noFill/>
          <a:ln/>
        </p:spPr>
        <p:txBody>
          <a:bodyPr wrap="square" lIns="0" tIns="0" rIns="0" bIns="0" rtlCol="0" anchor="ctr"/>
          <a:lstStyle/>
          <a:p>
            <a:pPr marL="0" indent="0">
              <a:buNone/>
            </a:pPr>
            <a:r>
              <a:rPr lang="en-US" sz="1300" b="1" dirty="0">
                <a:solidFill>
                  <a:srgbClr val="0B3D66"/>
                </a:solidFill>
                <a:latin typeface="Calibri" pitchFamily="34" charset="0"/>
                <a:ea typeface="Calibri" pitchFamily="34" charset="-122"/>
                <a:cs typeface="Calibri" pitchFamily="34" charset="-120"/>
              </a:rPr>
              <a:t>Personnel movement</a:t>
            </a:r>
            <a:endParaRPr lang="en-US" sz="1300" dirty="0"/>
          </a:p>
        </p:txBody>
      </p:sp>
      <p:sp>
        <p:nvSpPr>
          <p:cNvPr id="17" name="Text 15"/>
          <p:cNvSpPr txBox="1"/>
          <p:nvPr/>
        </p:nvSpPr>
        <p:spPr>
          <a:xfrm>
            <a:off x="3611880" y="4690872"/>
            <a:ext cx="8001000" cy="676656"/>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Roster, clearances, passport validity, live location; field-party check-in/out with automatic man-overdue alerts</a:t>
            </a:r>
            <a:endParaRPr lang="en-US" sz="1200" dirty="0"/>
          </a:p>
        </p:txBody>
      </p:sp>
      <p:sp>
        <p:nvSpPr>
          <p:cNvPr id="18" name="Shape 16"/>
          <p:cNvSpPr/>
          <p:nvPr/>
        </p:nvSpPr>
        <p:spPr>
          <a:xfrm>
            <a:off x="548640" y="5477256"/>
            <a:ext cx="283464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19" name="Text 17"/>
          <p:cNvSpPr txBox="1"/>
          <p:nvPr/>
        </p:nvSpPr>
        <p:spPr>
          <a:xfrm>
            <a:off x="685800" y="5477256"/>
            <a:ext cx="2651760" cy="676656"/>
          </a:xfrm>
          <a:prstGeom prst="rect">
            <a:avLst/>
          </a:prstGeom>
          <a:noFill/>
          <a:ln/>
        </p:spPr>
        <p:txBody>
          <a:bodyPr wrap="square" lIns="0" tIns="0" rIns="0" bIns="0" rtlCol="0" anchor="ctr"/>
          <a:lstStyle/>
          <a:p>
            <a:pPr marL="0" indent="0">
              <a:buNone/>
            </a:pPr>
            <a:r>
              <a:rPr lang="en-US" sz="1300" b="1" dirty="0">
                <a:solidFill>
                  <a:srgbClr val="0B3D66"/>
                </a:solidFill>
                <a:latin typeface="Calibri" pitchFamily="34" charset="0"/>
                <a:ea typeface="Calibri" pitchFamily="34" charset="-122"/>
                <a:cs typeface="Calibri" pitchFamily="34" charset="-120"/>
              </a:rPr>
              <a:t>Emergency response</a:t>
            </a:r>
            <a:endParaRPr lang="en-US" sz="1300" dirty="0"/>
          </a:p>
        </p:txBody>
      </p:sp>
      <p:sp>
        <p:nvSpPr>
          <p:cNvPr id="20" name="Text 18"/>
          <p:cNvSpPr txBox="1"/>
          <p:nvPr/>
        </p:nvSpPr>
        <p:spPr>
          <a:xfrm>
            <a:off x="3611880" y="5477256"/>
            <a:ext cx="8001000" cy="676656"/>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Offline SOP playbooks, muster lists, one-tap MEDEVAC feasibility card (airstrip · flight window · ship position)</a:t>
            </a:r>
            <a:endParaRPr lang="en-US" sz="1200" dirty="0"/>
          </a:p>
        </p:txBody>
      </p:sp>
      <p:sp>
        <p:nvSpPr>
          <p:cNvPr id="21" name="Text 19"/>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22" name="Text 20"/>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Architecture on one slide</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Three nodes, one log, bandwidth-aware sync</a:t>
            </a:r>
            <a:endParaRPr lang="en-US" sz="1200" dirty="0"/>
          </a:p>
        </p:txBody>
      </p:sp>
      <p:sp>
        <p:nvSpPr>
          <p:cNvPr id="4" name="Shape 2"/>
          <p:cNvSpPr/>
          <p:nvPr/>
        </p:nvSpPr>
        <p:spPr>
          <a:xfrm>
            <a:off x="548640" y="1554480"/>
            <a:ext cx="3383280" cy="2377440"/>
          </a:xfrm>
          <a:prstGeom prst="roundRect">
            <a:avLst>
              <a:gd name="adj" fmla="val 2692"/>
            </a:avLst>
          </a:prstGeom>
          <a:solidFill>
            <a:srgbClr val="FFFFFF"/>
          </a:solidFill>
          <a:ln w="15875">
            <a:solidFill>
              <a:srgbClr val="0B3D66"/>
            </a:solidFill>
            <a:prstDash val="solid"/>
          </a:ln>
        </p:spPr>
        <p:txBody>
          <a:bodyPr/>
          <a:lstStyle/>
          <a:p>
            <a:endParaRPr lang="en-US"/>
          </a:p>
        </p:txBody>
      </p:sp>
      <p:sp>
        <p:nvSpPr>
          <p:cNvPr id="5" name="Text 3"/>
          <p:cNvSpPr txBox="1"/>
          <p:nvPr/>
        </p:nvSpPr>
        <p:spPr>
          <a:xfrm>
            <a:off x="685800" y="1627632"/>
            <a:ext cx="3108960" cy="365760"/>
          </a:xfrm>
          <a:prstGeom prst="rect">
            <a:avLst/>
          </a:prstGeom>
          <a:noFill/>
          <a:ln/>
        </p:spPr>
        <p:txBody>
          <a:bodyPr wrap="square" lIns="0" tIns="0" rIns="0" bIns="0" rtlCol="0" anchor="ctr"/>
          <a:lstStyle/>
          <a:p>
            <a:pPr marL="0" indent="0">
              <a:buNone/>
            </a:pPr>
            <a:r>
              <a:rPr lang="en-US" sz="1400" b="1" dirty="0">
                <a:solidFill>
                  <a:srgbClr val="0B3D66"/>
                </a:solidFill>
                <a:latin typeface="Calibri" pitchFamily="34" charset="0"/>
                <a:ea typeface="Calibri" pitchFamily="34" charset="-122"/>
                <a:cs typeface="Calibri" pitchFamily="34" charset="-120"/>
              </a:rPr>
              <a:t>HQ — NCPOR Goa</a:t>
            </a:r>
            <a:endParaRPr lang="en-US" sz="1400" dirty="0"/>
          </a:p>
        </p:txBody>
      </p:sp>
      <p:sp>
        <p:nvSpPr>
          <p:cNvPr id="6" name="Text 4"/>
          <p:cNvSpPr txBox="1"/>
          <p:nvPr/>
        </p:nvSpPr>
        <p:spPr>
          <a:xfrm>
            <a:off x="685800" y="2011680"/>
            <a:ext cx="3108960" cy="182880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PostgreSQL + FastAPI</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Season planner (OR-Tools ILP)</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Dashboards, MoES reporting</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Full connectivity</a:t>
            </a:r>
            <a:endParaRPr lang="en-US" sz="1050" dirty="0"/>
          </a:p>
        </p:txBody>
      </p:sp>
      <p:sp>
        <p:nvSpPr>
          <p:cNvPr id="7" name="Shape 5"/>
          <p:cNvSpPr/>
          <p:nvPr/>
        </p:nvSpPr>
        <p:spPr>
          <a:xfrm>
            <a:off x="4389120" y="1554480"/>
            <a:ext cx="3383280" cy="2377440"/>
          </a:xfrm>
          <a:prstGeom prst="roundRect">
            <a:avLst>
              <a:gd name="adj" fmla="val 2692"/>
            </a:avLst>
          </a:prstGeom>
          <a:solidFill>
            <a:srgbClr val="EAF2F8"/>
          </a:solidFill>
          <a:ln w="15875">
            <a:solidFill>
              <a:srgbClr val="0B3D66"/>
            </a:solidFill>
            <a:prstDash val="solid"/>
          </a:ln>
        </p:spPr>
        <p:txBody>
          <a:bodyPr/>
          <a:lstStyle/>
          <a:p>
            <a:endParaRPr lang="en-US"/>
          </a:p>
        </p:txBody>
      </p:sp>
      <p:sp>
        <p:nvSpPr>
          <p:cNvPr id="8" name="Text 6"/>
          <p:cNvSpPr txBox="1"/>
          <p:nvPr/>
        </p:nvSpPr>
        <p:spPr>
          <a:xfrm>
            <a:off x="4526280" y="1627632"/>
            <a:ext cx="3108960" cy="365760"/>
          </a:xfrm>
          <a:prstGeom prst="rect">
            <a:avLst/>
          </a:prstGeom>
          <a:noFill/>
          <a:ln/>
        </p:spPr>
        <p:txBody>
          <a:bodyPr wrap="square" lIns="0" tIns="0" rIns="0" bIns="0" rtlCol="0" anchor="ctr"/>
          <a:lstStyle/>
          <a:p>
            <a:pPr marL="0" indent="0">
              <a:buNone/>
            </a:pPr>
            <a:r>
              <a:rPr lang="en-US" sz="1400" b="1" dirty="0">
                <a:solidFill>
                  <a:srgbClr val="0B3D66"/>
                </a:solidFill>
                <a:latin typeface="Calibri" pitchFamily="34" charset="0"/>
                <a:ea typeface="Calibri" pitchFamily="34" charset="-122"/>
                <a:cs typeface="Calibri" pitchFamily="34" charset="-120"/>
              </a:rPr>
              <a:t>VESSEL (charter ship)</a:t>
            </a:r>
            <a:endParaRPr lang="en-US" sz="1400" dirty="0"/>
          </a:p>
        </p:txBody>
      </p:sp>
      <p:sp>
        <p:nvSpPr>
          <p:cNvPr id="9" name="Text 7"/>
          <p:cNvSpPr txBox="1"/>
          <p:nvPr/>
        </p:nvSpPr>
        <p:spPr>
          <a:xfrm>
            <a:off x="4526280" y="2011680"/>
            <a:ext cx="3108960" cy="182880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Edge node — laptop</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SQLite event log</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Cargo scans, personnel moves</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Intermittent link</a:t>
            </a:r>
            <a:endParaRPr lang="en-US" sz="1050" dirty="0"/>
          </a:p>
        </p:txBody>
      </p:sp>
      <p:sp>
        <p:nvSpPr>
          <p:cNvPr id="10" name="Shape 8"/>
          <p:cNvSpPr/>
          <p:nvPr/>
        </p:nvSpPr>
        <p:spPr>
          <a:xfrm>
            <a:off x="8229600" y="1554480"/>
            <a:ext cx="3383280" cy="2377440"/>
          </a:xfrm>
          <a:prstGeom prst="roundRect">
            <a:avLst>
              <a:gd name="adj" fmla="val 2692"/>
            </a:avLst>
          </a:prstGeom>
          <a:solidFill>
            <a:srgbClr val="EAF2F8"/>
          </a:solidFill>
          <a:ln w="15875">
            <a:solidFill>
              <a:srgbClr val="0B3D66"/>
            </a:solidFill>
            <a:prstDash val="solid"/>
          </a:ln>
        </p:spPr>
        <p:txBody>
          <a:bodyPr/>
          <a:lstStyle/>
          <a:p>
            <a:endParaRPr lang="en-US"/>
          </a:p>
        </p:txBody>
      </p:sp>
      <p:sp>
        <p:nvSpPr>
          <p:cNvPr id="11" name="Text 9"/>
          <p:cNvSpPr txBox="1"/>
          <p:nvPr/>
        </p:nvSpPr>
        <p:spPr>
          <a:xfrm>
            <a:off x="8366760" y="1627632"/>
            <a:ext cx="3108960" cy="365760"/>
          </a:xfrm>
          <a:prstGeom prst="rect">
            <a:avLst/>
          </a:prstGeom>
          <a:noFill/>
          <a:ln/>
        </p:spPr>
        <p:txBody>
          <a:bodyPr wrap="square" lIns="0" tIns="0" rIns="0" bIns="0" rtlCol="0" anchor="ctr"/>
          <a:lstStyle/>
          <a:p>
            <a:pPr marL="0" indent="0">
              <a:buNone/>
            </a:pPr>
            <a:r>
              <a:rPr lang="en-US" sz="1400" b="1" dirty="0">
                <a:solidFill>
                  <a:srgbClr val="0B3D66"/>
                </a:solidFill>
                <a:latin typeface="Calibri" pitchFamily="34" charset="0"/>
                <a:ea typeface="Calibri" pitchFamily="34" charset="-122"/>
                <a:cs typeface="Calibri" pitchFamily="34" charset="-120"/>
              </a:rPr>
              <a:t>STATIONS Maitri · Bharati · Sandhi</a:t>
            </a:r>
            <a:endParaRPr lang="en-US" sz="1400" dirty="0"/>
          </a:p>
        </p:txBody>
      </p:sp>
      <p:sp>
        <p:nvSpPr>
          <p:cNvPr id="12" name="Text 10"/>
          <p:cNvSpPr txBox="1"/>
          <p:nvPr/>
        </p:nvSpPr>
        <p:spPr>
          <a:xfrm>
            <a:off x="8366760" y="2011680"/>
            <a:ext cx="3108960" cy="182880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React PWA + IndexedDB</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SQLite event log</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Inventory, field parties, SOPs</a:t>
            </a:r>
            <a:endParaRPr lang="en-US" sz="1050" dirty="0"/>
          </a:p>
          <a:p>
            <a:pPr marL="342900" indent="-342900">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KB-scale satellite link</a:t>
            </a:r>
            <a:endParaRPr lang="en-US" sz="1050" dirty="0"/>
          </a:p>
        </p:txBody>
      </p:sp>
      <p:sp>
        <p:nvSpPr>
          <p:cNvPr id="13" name="Shape 11"/>
          <p:cNvSpPr/>
          <p:nvPr/>
        </p:nvSpPr>
        <p:spPr>
          <a:xfrm>
            <a:off x="3657600" y="2514600"/>
            <a:ext cx="685800" cy="365760"/>
          </a:xfrm>
          <a:prstGeom prst="rightArrow">
            <a:avLst/>
          </a:prstGeom>
          <a:solidFill>
            <a:srgbClr val="14532D"/>
          </a:solidFill>
          <a:ln/>
        </p:spPr>
        <p:txBody>
          <a:bodyPr/>
          <a:lstStyle/>
          <a:p>
            <a:endParaRPr lang="en-US"/>
          </a:p>
        </p:txBody>
      </p:sp>
      <p:sp>
        <p:nvSpPr>
          <p:cNvPr id="14" name="Shape 12"/>
          <p:cNvSpPr/>
          <p:nvPr/>
        </p:nvSpPr>
        <p:spPr>
          <a:xfrm>
            <a:off x="7498080" y="2514600"/>
            <a:ext cx="685800" cy="365760"/>
          </a:xfrm>
          <a:prstGeom prst="rightArrow">
            <a:avLst/>
          </a:prstGeom>
          <a:solidFill>
            <a:srgbClr val="14532D"/>
          </a:solidFill>
          <a:ln/>
        </p:spPr>
        <p:txBody>
          <a:bodyPr/>
          <a:lstStyle/>
          <a:p>
            <a:endParaRPr lang="en-US"/>
          </a:p>
        </p:txBody>
      </p:sp>
      <p:sp>
        <p:nvSpPr>
          <p:cNvPr id="15" name="Shape 13"/>
          <p:cNvSpPr/>
          <p:nvPr/>
        </p:nvSpPr>
        <p:spPr>
          <a:xfrm>
            <a:off x="548640" y="4297680"/>
            <a:ext cx="11064240" cy="914400"/>
          </a:xfrm>
          <a:prstGeom prst="roundRect">
            <a:avLst>
              <a:gd name="adj" fmla="val 6000"/>
            </a:avLst>
          </a:prstGeom>
          <a:solidFill>
            <a:srgbClr val="0B3D66"/>
          </a:solidFill>
          <a:ln/>
        </p:spPr>
        <p:txBody>
          <a:bodyPr/>
          <a:lstStyle/>
          <a:p>
            <a:endParaRPr lang="en-US"/>
          </a:p>
        </p:txBody>
      </p:sp>
      <p:sp>
        <p:nvSpPr>
          <p:cNvPr id="16" name="Text 14"/>
          <p:cNvSpPr txBox="1"/>
          <p:nvPr/>
        </p:nvSpPr>
        <p:spPr>
          <a:xfrm>
            <a:off x="777240" y="4370832"/>
            <a:ext cx="10607040" cy="7680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SHARED EVENT LOG  —  events(node_id, seq, priority, type, subject, payload) · 18 event types · state = replay of the log · corrections are new events, never edits</a:t>
            </a:r>
            <a:endParaRPr lang="en-US" sz="1250" dirty="0"/>
          </a:p>
        </p:txBody>
      </p:sp>
      <p:sp>
        <p:nvSpPr>
          <p:cNvPr id="17" name="Text 15"/>
          <p:cNvSpPr txBox="1"/>
          <p:nvPr/>
        </p:nvSpPr>
        <p:spPr>
          <a:xfrm>
            <a:off x="548640" y="5440680"/>
            <a:ext cx="11064240" cy="8229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Sync = “send me everything from node X after sequence N” — no clock agreement needed. </a:t>
            </a:r>
            <a:r>
              <a:rPr lang="en-US" sz="1300" b="1" dirty="0">
                <a:solidFill>
                  <a:srgbClr val="0B3D66"/>
                </a:solidFill>
                <a:latin typeface="Calibri" pitchFamily="34" charset="0"/>
                <a:ea typeface="Calibri" pitchFamily="34" charset="-122"/>
                <a:cs typeface="Calibri" pitchFamily="34" charset="-120"/>
              </a:rPr>
              <a:t>Priority queue: safety &amp; personnel events cross a 15-minute Iridium window before inventory noise; bulk sync waits for VSAT.</a:t>
            </a:r>
            <a:endParaRPr lang="en-US" sz="1300" dirty="0"/>
          </a:p>
        </p:txBody>
      </p:sp>
      <p:sp>
        <p:nvSpPr>
          <p:cNvPr id="18" name="Text 16"/>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19" name="Text 17"/>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What exists today — and why it falls short</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Innovation is a claimed delta, not a feature list</a:t>
            </a:r>
            <a:endParaRPr lang="en-US" sz="1200" dirty="0"/>
          </a:p>
        </p:txBody>
      </p:sp>
      <p:sp>
        <p:nvSpPr>
          <p:cNvPr id="4" name="Shape 2"/>
          <p:cNvSpPr/>
          <p:nvPr/>
        </p:nvSpPr>
        <p:spPr>
          <a:xfrm>
            <a:off x="548640" y="1417320"/>
            <a:ext cx="4297680" cy="457200"/>
          </a:xfrm>
          <a:prstGeom prst="rect">
            <a:avLst/>
          </a:prstGeom>
          <a:solidFill>
            <a:srgbClr val="0B3D66"/>
          </a:solidFill>
          <a:ln w="9525">
            <a:solidFill>
              <a:srgbClr val="C5D3E0"/>
            </a:solidFill>
            <a:prstDash val="solid"/>
          </a:ln>
        </p:spPr>
        <p:txBody>
          <a:bodyPr/>
          <a:lstStyle/>
          <a:p>
            <a:endParaRPr lang="en-US"/>
          </a:p>
        </p:txBody>
      </p:sp>
      <p:sp>
        <p:nvSpPr>
          <p:cNvPr id="5" name="Shape 3"/>
          <p:cNvSpPr/>
          <p:nvPr/>
        </p:nvSpPr>
        <p:spPr>
          <a:xfrm>
            <a:off x="4846320" y="1417320"/>
            <a:ext cx="6766560" cy="457200"/>
          </a:xfrm>
          <a:prstGeom prst="rect">
            <a:avLst/>
          </a:prstGeom>
          <a:solidFill>
            <a:srgbClr val="0B3D66"/>
          </a:solidFill>
          <a:ln w="9525">
            <a:solidFill>
              <a:srgbClr val="C5D3E0"/>
            </a:solidFill>
            <a:prstDash val="solid"/>
          </a:ln>
        </p:spPr>
        <p:txBody>
          <a:bodyPr/>
          <a:lstStyle/>
          <a:p>
            <a:endParaRPr lang="en-US"/>
          </a:p>
        </p:txBody>
      </p:sp>
      <p:sp>
        <p:nvSpPr>
          <p:cNvPr id="6" name="Text 4"/>
          <p:cNvSpPr txBox="1"/>
          <p:nvPr/>
        </p:nvSpPr>
        <p:spPr>
          <a:xfrm>
            <a:off x="658368" y="1417320"/>
            <a:ext cx="4078224"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Existing approach</a:t>
            </a:r>
            <a:endParaRPr lang="en-US" sz="1250" dirty="0"/>
          </a:p>
        </p:txBody>
      </p:sp>
      <p:sp>
        <p:nvSpPr>
          <p:cNvPr id="7" name="Text 5"/>
          <p:cNvSpPr txBox="1"/>
          <p:nvPr/>
        </p:nvSpPr>
        <p:spPr>
          <a:xfrm>
            <a:off x="4956048" y="1417320"/>
            <a:ext cx="6547104"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Why it falls short for ISEA</a:t>
            </a:r>
            <a:endParaRPr lang="en-US" sz="1250" dirty="0"/>
          </a:p>
        </p:txBody>
      </p:sp>
      <p:sp>
        <p:nvSpPr>
          <p:cNvPr id="8" name="Shape 6"/>
          <p:cNvSpPr/>
          <p:nvPr/>
        </p:nvSpPr>
        <p:spPr>
          <a:xfrm>
            <a:off x="548640" y="1874520"/>
            <a:ext cx="4297680" cy="822960"/>
          </a:xfrm>
          <a:prstGeom prst="rect">
            <a:avLst/>
          </a:prstGeom>
          <a:solidFill>
            <a:srgbClr val="FFFFFF"/>
          </a:solidFill>
          <a:ln w="9525">
            <a:solidFill>
              <a:srgbClr val="C5D3E0"/>
            </a:solidFill>
            <a:prstDash val="solid"/>
          </a:ln>
        </p:spPr>
        <p:txBody>
          <a:bodyPr/>
          <a:lstStyle/>
          <a:p>
            <a:endParaRPr lang="en-US"/>
          </a:p>
        </p:txBody>
      </p:sp>
      <p:sp>
        <p:nvSpPr>
          <p:cNvPr id="9" name="Shape 7"/>
          <p:cNvSpPr/>
          <p:nvPr/>
        </p:nvSpPr>
        <p:spPr>
          <a:xfrm>
            <a:off x="4846320" y="1874520"/>
            <a:ext cx="6766560" cy="822960"/>
          </a:xfrm>
          <a:prstGeom prst="rect">
            <a:avLst/>
          </a:prstGeom>
          <a:solidFill>
            <a:srgbClr val="FFFFFF"/>
          </a:solidFill>
          <a:ln w="9525">
            <a:solidFill>
              <a:srgbClr val="C5D3E0"/>
            </a:solidFill>
            <a:prstDash val="solid"/>
          </a:ln>
        </p:spPr>
        <p:txBody>
          <a:bodyPr/>
          <a:lstStyle/>
          <a:p>
            <a:endParaRPr lang="en-US"/>
          </a:p>
        </p:txBody>
      </p:sp>
      <p:sp>
        <p:nvSpPr>
          <p:cNvPr id="10" name="Text 8"/>
          <p:cNvSpPr txBox="1"/>
          <p:nvPr/>
        </p:nvSpPr>
        <p:spPr>
          <a:xfrm>
            <a:off x="658368" y="1874520"/>
            <a:ext cx="4078224" cy="822960"/>
          </a:xfrm>
          <a:prstGeom prst="rect">
            <a:avLst/>
          </a:prstGeom>
          <a:noFill/>
          <a:ln/>
        </p:spPr>
        <p:txBody>
          <a:bodyPr wrap="square" lIns="0" tIns="0" rIns="0" bIns="0" rtlCol="0" anchor="ctr"/>
          <a:lstStyle/>
          <a:p>
            <a:pPr marL="0" indent="0">
              <a:buNone/>
            </a:pPr>
            <a:r>
              <a:rPr lang="en-US" sz="1150" dirty="0">
                <a:solidFill>
                  <a:srgbClr val="0B3D66"/>
                </a:solidFill>
                <a:latin typeface="Calibri" pitchFamily="34" charset="0"/>
                <a:ea typeface="Calibri" pitchFamily="34" charset="-122"/>
                <a:cs typeface="Calibri" pitchFamily="34" charset="-120"/>
              </a:rPr>
              <a:t>NCPOR current practice — PDF forms (AL-1403-O), hand-marked boxes, registers</a:t>
            </a:r>
            <a:endParaRPr lang="en-US" sz="1150" dirty="0"/>
          </a:p>
        </p:txBody>
      </p:sp>
      <p:sp>
        <p:nvSpPr>
          <p:cNvPr id="11" name="Text 9"/>
          <p:cNvSpPr txBox="1"/>
          <p:nvPr/>
        </p:nvSpPr>
        <p:spPr>
          <a:xfrm>
            <a:off x="4956048" y="1874520"/>
            <a:ext cx="6547104" cy="82296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No custody trail, no live stock view, no forecast; knowledge lives in a few officers' inboxes</a:t>
            </a:r>
            <a:endParaRPr lang="en-US" sz="1150" dirty="0"/>
          </a:p>
        </p:txBody>
      </p:sp>
      <p:sp>
        <p:nvSpPr>
          <p:cNvPr id="12" name="Shape 10"/>
          <p:cNvSpPr/>
          <p:nvPr/>
        </p:nvSpPr>
        <p:spPr>
          <a:xfrm>
            <a:off x="548640" y="2697480"/>
            <a:ext cx="4297680" cy="822960"/>
          </a:xfrm>
          <a:prstGeom prst="rect">
            <a:avLst/>
          </a:prstGeom>
          <a:solidFill>
            <a:srgbClr val="EAF2F8"/>
          </a:solidFill>
          <a:ln w="9525">
            <a:solidFill>
              <a:srgbClr val="C5D3E0"/>
            </a:solidFill>
            <a:prstDash val="solid"/>
          </a:ln>
        </p:spPr>
        <p:txBody>
          <a:bodyPr/>
          <a:lstStyle/>
          <a:p>
            <a:endParaRPr lang="en-US"/>
          </a:p>
        </p:txBody>
      </p:sp>
      <p:sp>
        <p:nvSpPr>
          <p:cNvPr id="13" name="Shape 11"/>
          <p:cNvSpPr/>
          <p:nvPr/>
        </p:nvSpPr>
        <p:spPr>
          <a:xfrm>
            <a:off x="4846320" y="2697480"/>
            <a:ext cx="6766560" cy="822960"/>
          </a:xfrm>
          <a:prstGeom prst="rect">
            <a:avLst/>
          </a:prstGeom>
          <a:solidFill>
            <a:srgbClr val="EAF2F8"/>
          </a:solidFill>
          <a:ln w="9525">
            <a:solidFill>
              <a:srgbClr val="C5D3E0"/>
            </a:solidFill>
            <a:prstDash val="solid"/>
          </a:ln>
        </p:spPr>
        <p:txBody>
          <a:bodyPr/>
          <a:lstStyle/>
          <a:p>
            <a:endParaRPr lang="en-US"/>
          </a:p>
        </p:txBody>
      </p:sp>
      <p:sp>
        <p:nvSpPr>
          <p:cNvPr id="14" name="Text 12"/>
          <p:cNvSpPr txBox="1"/>
          <p:nvPr/>
        </p:nvSpPr>
        <p:spPr>
          <a:xfrm>
            <a:off x="658368" y="2697480"/>
            <a:ext cx="4078224" cy="822960"/>
          </a:xfrm>
          <a:prstGeom prst="rect">
            <a:avLst/>
          </a:prstGeom>
          <a:noFill/>
          <a:ln/>
        </p:spPr>
        <p:txBody>
          <a:bodyPr wrap="square" lIns="0" tIns="0" rIns="0" bIns="0" rtlCol="0" anchor="ctr"/>
          <a:lstStyle/>
          <a:p>
            <a:pPr marL="0" indent="0">
              <a:buNone/>
            </a:pPr>
            <a:r>
              <a:rPr lang="en-US" sz="1150" dirty="0">
                <a:solidFill>
                  <a:srgbClr val="0B3D66"/>
                </a:solidFill>
                <a:latin typeface="Calibri" pitchFamily="34" charset="0"/>
                <a:ea typeface="Calibri" pitchFamily="34" charset="-122"/>
                <a:cs typeface="Calibri" pitchFamily="34" charset="-120"/>
              </a:rPr>
              <a:t>Enterprise ERP / WMS (SAP EWM, Oracle, Odoo)</a:t>
            </a:r>
            <a:endParaRPr lang="en-US" sz="1150" dirty="0"/>
          </a:p>
        </p:txBody>
      </p:sp>
      <p:sp>
        <p:nvSpPr>
          <p:cNvPr id="15" name="Text 13"/>
          <p:cNvSpPr txBox="1"/>
          <p:nvPr/>
        </p:nvSpPr>
        <p:spPr>
          <a:xfrm>
            <a:off x="4956048" y="2697480"/>
            <a:ext cx="6547104" cy="82296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Assume always-on connectivity &amp; barcode infra; unusable on a KB-link station; procurement-centric, not expedition-centric</a:t>
            </a:r>
            <a:endParaRPr lang="en-US" sz="1150" dirty="0"/>
          </a:p>
        </p:txBody>
      </p:sp>
      <p:sp>
        <p:nvSpPr>
          <p:cNvPr id="16" name="Shape 14"/>
          <p:cNvSpPr/>
          <p:nvPr/>
        </p:nvSpPr>
        <p:spPr>
          <a:xfrm>
            <a:off x="548640" y="3520440"/>
            <a:ext cx="4297680" cy="822960"/>
          </a:xfrm>
          <a:prstGeom prst="rect">
            <a:avLst/>
          </a:prstGeom>
          <a:solidFill>
            <a:srgbClr val="FFFFFF"/>
          </a:solidFill>
          <a:ln w="9525">
            <a:solidFill>
              <a:srgbClr val="C5D3E0"/>
            </a:solidFill>
            <a:prstDash val="solid"/>
          </a:ln>
        </p:spPr>
        <p:txBody>
          <a:bodyPr/>
          <a:lstStyle/>
          <a:p>
            <a:endParaRPr lang="en-US"/>
          </a:p>
        </p:txBody>
      </p:sp>
      <p:sp>
        <p:nvSpPr>
          <p:cNvPr id="17" name="Shape 15"/>
          <p:cNvSpPr/>
          <p:nvPr/>
        </p:nvSpPr>
        <p:spPr>
          <a:xfrm>
            <a:off x="4846320" y="3520440"/>
            <a:ext cx="6766560" cy="822960"/>
          </a:xfrm>
          <a:prstGeom prst="rect">
            <a:avLst/>
          </a:prstGeom>
          <a:solidFill>
            <a:srgbClr val="FFFFFF"/>
          </a:solidFill>
          <a:ln w="9525">
            <a:solidFill>
              <a:srgbClr val="C5D3E0"/>
            </a:solidFill>
            <a:prstDash val="solid"/>
          </a:ln>
        </p:spPr>
        <p:txBody>
          <a:bodyPr/>
          <a:lstStyle/>
          <a:p>
            <a:endParaRPr lang="en-US"/>
          </a:p>
        </p:txBody>
      </p:sp>
      <p:sp>
        <p:nvSpPr>
          <p:cNvPr id="18" name="Text 16"/>
          <p:cNvSpPr txBox="1"/>
          <p:nvPr/>
        </p:nvSpPr>
        <p:spPr>
          <a:xfrm>
            <a:off x="658368" y="3520440"/>
            <a:ext cx="4078224" cy="822960"/>
          </a:xfrm>
          <a:prstGeom prst="rect">
            <a:avLst/>
          </a:prstGeom>
          <a:noFill/>
          <a:ln/>
        </p:spPr>
        <p:txBody>
          <a:bodyPr wrap="square" lIns="0" tIns="0" rIns="0" bIns="0" rtlCol="0" anchor="ctr"/>
          <a:lstStyle/>
          <a:p>
            <a:pPr marL="0" indent="0">
              <a:buNone/>
            </a:pPr>
            <a:r>
              <a:rPr lang="en-US" sz="1150" dirty="0">
                <a:solidFill>
                  <a:srgbClr val="0B3D66"/>
                </a:solidFill>
                <a:latin typeface="Calibri" pitchFamily="34" charset="0"/>
                <a:ea typeface="Calibri" pitchFamily="34" charset="-122"/>
                <a:cs typeface="Calibri" pitchFamily="34" charset="-120"/>
              </a:rPr>
              <a:t>Courier-style trackers / IoT tags</a:t>
            </a:r>
            <a:endParaRPr lang="en-US" sz="1150" dirty="0"/>
          </a:p>
        </p:txBody>
      </p:sp>
      <p:sp>
        <p:nvSpPr>
          <p:cNvPr id="19" name="Text 17"/>
          <p:cNvSpPr txBox="1"/>
          <p:nvPr/>
        </p:nvSpPr>
        <p:spPr>
          <a:xfrm>
            <a:off x="4956048" y="3520440"/>
            <a:ext cx="6547104" cy="82296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Need network coverage that does not exist on the ice; track location, not consumption or safety</a:t>
            </a:r>
            <a:endParaRPr lang="en-US" sz="1150" dirty="0"/>
          </a:p>
        </p:txBody>
      </p:sp>
      <p:sp>
        <p:nvSpPr>
          <p:cNvPr id="20" name="Shape 18"/>
          <p:cNvSpPr/>
          <p:nvPr/>
        </p:nvSpPr>
        <p:spPr>
          <a:xfrm>
            <a:off x="548640" y="4343400"/>
            <a:ext cx="4297680" cy="822960"/>
          </a:xfrm>
          <a:prstGeom prst="rect">
            <a:avLst/>
          </a:prstGeom>
          <a:solidFill>
            <a:srgbClr val="EAF2F8"/>
          </a:solidFill>
          <a:ln w="9525">
            <a:solidFill>
              <a:srgbClr val="C5D3E0"/>
            </a:solidFill>
            <a:prstDash val="solid"/>
          </a:ln>
        </p:spPr>
        <p:txBody>
          <a:bodyPr/>
          <a:lstStyle/>
          <a:p>
            <a:endParaRPr lang="en-US"/>
          </a:p>
        </p:txBody>
      </p:sp>
      <p:sp>
        <p:nvSpPr>
          <p:cNvPr id="21" name="Shape 19"/>
          <p:cNvSpPr/>
          <p:nvPr/>
        </p:nvSpPr>
        <p:spPr>
          <a:xfrm>
            <a:off x="4846320" y="4343400"/>
            <a:ext cx="6766560" cy="822960"/>
          </a:xfrm>
          <a:prstGeom prst="rect">
            <a:avLst/>
          </a:prstGeom>
          <a:solidFill>
            <a:srgbClr val="EAF2F8"/>
          </a:solidFill>
          <a:ln w="9525">
            <a:solidFill>
              <a:srgbClr val="C5D3E0"/>
            </a:solidFill>
            <a:prstDash val="solid"/>
          </a:ln>
        </p:spPr>
        <p:txBody>
          <a:bodyPr/>
          <a:lstStyle/>
          <a:p>
            <a:endParaRPr lang="en-US"/>
          </a:p>
        </p:txBody>
      </p:sp>
      <p:sp>
        <p:nvSpPr>
          <p:cNvPr id="22" name="Text 20"/>
          <p:cNvSpPr txBox="1"/>
          <p:nvPr/>
        </p:nvSpPr>
        <p:spPr>
          <a:xfrm>
            <a:off x="658368" y="4343400"/>
            <a:ext cx="4078224" cy="822960"/>
          </a:xfrm>
          <a:prstGeom prst="rect">
            <a:avLst/>
          </a:prstGeom>
          <a:noFill/>
          <a:ln/>
        </p:spPr>
        <p:txBody>
          <a:bodyPr wrap="square" lIns="0" tIns="0" rIns="0" bIns="0" rtlCol="0" anchor="ctr"/>
          <a:lstStyle/>
          <a:p>
            <a:pPr marL="0" indent="0">
              <a:buNone/>
            </a:pPr>
            <a:r>
              <a:rPr lang="en-US" sz="1150" dirty="0">
                <a:solidFill>
                  <a:srgbClr val="0B3D66"/>
                </a:solidFill>
                <a:latin typeface="Calibri" pitchFamily="34" charset="0"/>
                <a:ea typeface="Calibri" pitchFamily="34" charset="-122"/>
                <a:cs typeface="Calibri" pitchFamily="34" charset="-120"/>
              </a:rPr>
              <a:t>Other polar programmes (COMNAP members)</a:t>
            </a:r>
            <a:endParaRPr lang="en-US" sz="1150" dirty="0"/>
          </a:p>
        </p:txBody>
      </p:sp>
      <p:sp>
        <p:nvSpPr>
          <p:cNvPr id="23" name="Text 21"/>
          <p:cNvSpPr txBox="1"/>
          <p:nvPr/>
        </p:nvSpPr>
        <p:spPr>
          <a:xfrm>
            <a:off x="4956048" y="4343400"/>
            <a:ext cx="6547104" cy="82296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Internal, bespoke, not shareable; nothing India can procure off the shelf</a:t>
            </a:r>
            <a:endParaRPr lang="en-US" sz="1150" dirty="0"/>
          </a:p>
        </p:txBody>
      </p:sp>
      <p:sp>
        <p:nvSpPr>
          <p:cNvPr id="24" name="Shape 22"/>
          <p:cNvSpPr/>
          <p:nvPr/>
        </p:nvSpPr>
        <p:spPr>
          <a:xfrm>
            <a:off x="548640" y="5394960"/>
            <a:ext cx="11064240" cy="1051560"/>
          </a:xfrm>
          <a:prstGeom prst="roundRect">
            <a:avLst>
              <a:gd name="adj" fmla="val 6087"/>
            </a:avLst>
          </a:prstGeom>
          <a:solidFill>
            <a:srgbClr val="14532D"/>
          </a:solidFill>
          <a:ln/>
        </p:spPr>
        <p:txBody>
          <a:bodyPr/>
          <a:lstStyle/>
          <a:p>
            <a:endParaRPr lang="en-US"/>
          </a:p>
        </p:txBody>
      </p:sp>
      <p:sp>
        <p:nvSpPr>
          <p:cNvPr id="25" name="Text 23"/>
          <p:cNvSpPr txBox="1"/>
          <p:nvPr/>
        </p:nvSpPr>
        <p:spPr>
          <a:xfrm>
            <a:off x="777240" y="5486400"/>
            <a:ext cx="1060704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Our contribution, in one sentence: </a:t>
            </a:r>
            <a:r>
              <a:rPr lang="en-US" sz="1350" dirty="0">
                <a:solidFill>
                  <a:srgbClr val="FFFFFF"/>
                </a:solidFill>
                <a:latin typeface="Calibri" pitchFamily="34" charset="0"/>
                <a:ea typeface="Calibri" pitchFamily="34" charset="-122"/>
                <a:cs typeface="Calibri" pitchFamily="34" charset="-120"/>
              </a:rPr>
              <a:t>an offline-first, priority-synced event log that turns a paper supply chain into forecasts — the date fuel runs out, the flight a crate must catch, the party that is overdue — months before anyone can act otherwise.</a:t>
            </a:r>
            <a:endParaRPr lang="en-US" sz="1350" dirty="0"/>
          </a:p>
        </p:txBody>
      </p:sp>
      <p:sp>
        <p:nvSpPr>
          <p:cNvPr id="26" name="Text 24"/>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27" name="Text 25"/>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Engineering choices we made deliberately</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Each one is defensible in Q&amp;A</a:t>
            </a:r>
            <a:endParaRPr lang="en-US" sz="1200" dirty="0"/>
          </a:p>
        </p:txBody>
      </p:sp>
      <p:sp>
        <p:nvSpPr>
          <p:cNvPr id="4" name="Shape 2"/>
          <p:cNvSpPr/>
          <p:nvPr/>
        </p:nvSpPr>
        <p:spPr>
          <a:xfrm>
            <a:off x="548640" y="1417320"/>
            <a:ext cx="5394960" cy="1554480"/>
          </a:xfrm>
          <a:prstGeom prst="roundRect">
            <a:avLst>
              <a:gd name="adj" fmla="val 3529"/>
            </a:avLst>
          </a:prstGeom>
          <a:solidFill>
            <a:srgbClr val="EAF2F8"/>
          </a:solidFill>
          <a:ln w="12700">
            <a:solidFill>
              <a:srgbClr val="C5D3E0"/>
            </a:solidFill>
            <a:prstDash val="solid"/>
          </a:ln>
        </p:spPr>
        <p:txBody>
          <a:bodyPr/>
          <a:lstStyle/>
          <a:p>
            <a:endParaRPr lang="en-US"/>
          </a:p>
        </p:txBody>
      </p:sp>
      <p:sp>
        <p:nvSpPr>
          <p:cNvPr id="5" name="Text 3"/>
          <p:cNvSpPr txBox="1"/>
          <p:nvPr/>
        </p:nvSpPr>
        <p:spPr>
          <a:xfrm>
            <a:off x="731520" y="1527048"/>
            <a:ext cx="5029200" cy="1335024"/>
          </a:xfrm>
          <a:prstGeom prst="rect">
            <a:avLst/>
          </a:prstGeom>
          <a:noFill/>
          <a:ln/>
        </p:spPr>
        <p:txBody>
          <a:bodyPr wrap="square" lIns="0" tIns="0" rIns="0" bIns="0" rtlCol="0" anchor="ctr"/>
          <a:lstStyle/>
          <a:p>
            <a:pPr marL="0" indent="0">
              <a:spcAft>
                <a:spcPts val="400"/>
              </a:spcAft>
              <a:buNone/>
            </a:pPr>
            <a:r>
              <a:rPr lang="en-US" sz="1250" b="1" dirty="0">
                <a:solidFill>
                  <a:srgbClr val="0B3D66"/>
                </a:solidFill>
                <a:latin typeface="Calibri" pitchFamily="34" charset="0"/>
                <a:ea typeface="Calibri" pitchFamily="34" charset="-122"/>
                <a:cs typeface="Calibri" pitchFamily="34" charset="-120"/>
              </a:rPr>
              <a:t>Append-only event log </a:t>
            </a:r>
            <a:r>
              <a:rPr lang="en-US" sz="1150" i="1" dirty="0">
                <a:solidFill>
                  <a:srgbClr val="5A6B7A"/>
                </a:solidFill>
                <a:latin typeface="Calibri" pitchFamily="34" charset="0"/>
                <a:ea typeface="Calibri" pitchFamily="34" charset="-122"/>
                <a:cs typeface="Calibri" pitchFamily="34" charset="-120"/>
              </a:rPr>
              <a:t>over a normal CRUD database</a:t>
            </a:r>
            <a:endParaRPr lang="en-US" sz="1250" dirty="0"/>
          </a:p>
          <a:p>
            <a:pPr marL="0" indent="0">
              <a:spcAft>
                <a:spcPts val="400"/>
              </a:spcAft>
              <a:buNone/>
            </a:pPr>
            <a:r>
              <a:rPr lang="en-US" sz="1100" dirty="0">
                <a:solidFill>
                  <a:srgbClr val="1A1A1A"/>
                </a:solidFill>
                <a:latin typeface="Calibri" pitchFamily="34" charset="0"/>
                <a:ea typeface="Calibri" pitchFamily="34" charset="-122"/>
                <a:cs typeface="Calibri" pitchFamily="34" charset="-120"/>
              </a:rPr>
              <a:t>Disconnected nodes can never overwrite each other; audit trail is free; corrections are new events</a:t>
            </a:r>
            <a:endParaRPr lang="en-US" sz="1250" dirty="0"/>
          </a:p>
        </p:txBody>
      </p:sp>
      <p:sp>
        <p:nvSpPr>
          <p:cNvPr id="6" name="Shape 4"/>
          <p:cNvSpPr/>
          <p:nvPr/>
        </p:nvSpPr>
        <p:spPr>
          <a:xfrm>
            <a:off x="6217920" y="1417320"/>
            <a:ext cx="5394960" cy="1554480"/>
          </a:xfrm>
          <a:prstGeom prst="roundRect">
            <a:avLst>
              <a:gd name="adj" fmla="val 3529"/>
            </a:avLst>
          </a:prstGeom>
          <a:solidFill>
            <a:srgbClr val="EAF2F8"/>
          </a:solidFill>
          <a:ln w="12700">
            <a:solidFill>
              <a:srgbClr val="C5D3E0"/>
            </a:solidFill>
            <a:prstDash val="solid"/>
          </a:ln>
        </p:spPr>
        <p:txBody>
          <a:bodyPr/>
          <a:lstStyle/>
          <a:p>
            <a:endParaRPr lang="en-US"/>
          </a:p>
        </p:txBody>
      </p:sp>
      <p:sp>
        <p:nvSpPr>
          <p:cNvPr id="7" name="Text 5"/>
          <p:cNvSpPr txBox="1"/>
          <p:nvPr/>
        </p:nvSpPr>
        <p:spPr>
          <a:xfrm>
            <a:off x="6400800" y="1527048"/>
            <a:ext cx="5029200" cy="1335024"/>
          </a:xfrm>
          <a:prstGeom prst="rect">
            <a:avLst/>
          </a:prstGeom>
          <a:noFill/>
          <a:ln/>
        </p:spPr>
        <p:txBody>
          <a:bodyPr wrap="square" lIns="0" tIns="0" rIns="0" bIns="0" rtlCol="0" anchor="ctr"/>
          <a:lstStyle/>
          <a:p>
            <a:pPr marL="0" indent="0">
              <a:spcAft>
                <a:spcPts val="400"/>
              </a:spcAft>
              <a:buNone/>
            </a:pPr>
            <a:r>
              <a:rPr lang="en-US" sz="1250" b="1" dirty="0">
                <a:solidFill>
                  <a:srgbClr val="0B3D66"/>
                </a:solidFill>
                <a:latin typeface="Calibri" pitchFamily="34" charset="0"/>
                <a:ea typeface="Calibri" pitchFamily="34" charset="-122"/>
                <a:cs typeface="Calibri" pitchFamily="34" charset="-120"/>
              </a:rPr>
              <a:t>React PWA </a:t>
            </a:r>
            <a:r>
              <a:rPr lang="en-US" sz="1150" i="1" dirty="0">
                <a:solidFill>
                  <a:srgbClr val="5A6B7A"/>
                </a:solidFill>
                <a:latin typeface="Calibri" pitchFamily="34" charset="0"/>
                <a:ea typeface="Calibri" pitchFamily="34" charset="-122"/>
                <a:cs typeface="Calibri" pitchFamily="34" charset="-120"/>
              </a:rPr>
              <a:t>over native mobile apps</a:t>
            </a:r>
            <a:endParaRPr lang="en-US" sz="1250" dirty="0"/>
          </a:p>
          <a:p>
            <a:pPr marL="0" indent="0">
              <a:spcAft>
                <a:spcPts val="400"/>
              </a:spcAft>
              <a:buNone/>
            </a:pPr>
            <a:r>
              <a:rPr lang="en-US" sz="1100" dirty="0">
                <a:solidFill>
                  <a:srgbClr val="1A1A1A"/>
                </a:solidFill>
                <a:latin typeface="Calibri" pitchFamily="34" charset="0"/>
                <a:ea typeface="Calibri" pitchFamily="34" charset="-122"/>
                <a:cs typeface="Calibri" pitchFamily="34" charset="-120"/>
              </a:rPr>
              <a:t>One codebase runs on any station laptop or phone; installs offline; no app store on the ice</a:t>
            </a:r>
            <a:endParaRPr lang="en-US" sz="1250" dirty="0"/>
          </a:p>
        </p:txBody>
      </p:sp>
      <p:sp>
        <p:nvSpPr>
          <p:cNvPr id="8" name="Shape 6"/>
          <p:cNvSpPr/>
          <p:nvPr/>
        </p:nvSpPr>
        <p:spPr>
          <a:xfrm>
            <a:off x="548640" y="3108960"/>
            <a:ext cx="5394960" cy="1554480"/>
          </a:xfrm>
          <a:prstGeom prst="roundRect">
            <a:avLst>
              <a:gd name="adj" fmla="val 3529"/>
            </a:avLst>
          </a:prstGeom>
          <a:solidFill>
            <a:srgbClr val="EAF2F8"/>
          </a:solidFill>
          <a:ln w="12700">
            <a:solidFill>
              <a:srgbClr val="C5D3E0"/>
            </a:solidFill>
            <a:prstDash val="solid"/>
          </a:ln>
        </p:spPr>
        <p:txBody>
          <a:bodyPr/>
          <a:lstStyle/>
          <a:p>
            <a:endParaRPr lang="en-US"/>
          </a:p>
        </p:txBody>
      </p:sp>
      <p:sp>
        <p:nvSpPr>
          <p:cNvPr id="9" name="Text 7"/>
          <p:cNvSpPr txBox="1"/>
          <p:nvPr/>
        </p:nvSpPr>
        <p:spPr>
          <a:xfrm>
            <a:off x="731520" y="3218688"/>
            <a:ext cx="5029200" cy="1335024"/>
          </a:xfrm>
          <a:prstGeom prst="rect">
            <a:avLst/>
          </a:prstGeom>
          <a:noFill/>
          <a:ln/>
        </p:spPr>
        <p:txBody>
          <a:bodyPr wrap="square" lIns="0" tIns="0" rIns="0" bIns="0" rtlCol="0" anchor="ctr"/>
          <a:lstStyle/>
          <a:p>
            <a:pPr marL="0" indent="0">
              <a:spcAft>
                <a:spcPts val="400"/>
              </a:spcAft>
              <a:buNone/>
            </a:pPr>
            <a:r>
              <a:rPr lang="en-US" sz="1250" b="1" dirty="0">
                <a:solidFill>
                  <a:srgbClr val="0B3D66"/>
                </a:solidFill>
                <a:latin typeface="Calibri" pitchFamily="34" charset="0"/>
                <a:ea typeface="Calibri" pitchFamily="34" charset="-122"/>
                <a:cs typeface="Calibri" pitchFamily="34" charset="-120"/>
              </a:rPr>
              <a:t>SQLite file at the edge </a:t>
            </a:r>
            <a:r>
              <a:rPr lang="en-US" sz="1150" i="1" dirty="0">
                <a:solidFill>
                  <a:srgbClr val="5A6B7A"/>
                </a:solidFill>
                <a:latin typeface="Calibri" pitchFamily="34" charset="0"/>
                <a:ea typeface="Calibri" pitchFamily="34" charset="-122"/>
                <a:cs typeface="Calibri" pitchFamily="34" charset="-120"/>
              </a:rPr>
              <a:t>over a cloud database</a:t>
            </a:r>
            <a:endParaRPr lang="en-US" sz="1250" dirty="0"/>
          </a:p>
          <a:p>
            <a:pPr marL="0" indent="0">
              <a:spcAft>
                <a:spcPts val="400"/>
              </a:spcAft>
              <a:buNone/>
            </a:pPr>
            <a:r>
              <a:rPr lang="en-US" sz="1100" dirty="0">
                <a:solidFill>
                  <a:srgbClr val="1A1A1A"/>
                </a:solidFill>
                <a:latin typeface="Calibri" pitchFamily="34" charset="0"/>
                <a:ea typeface="Calibri" pitchFamily="34" charset="-122"/>
                <a:cs typeface="Calibri" pitchFamily="34" charset="-120"/>
              </a:rPr>
              <a:t>A single file is the database, the backup, and a valid sync medium — copy to USB and walk it over</a:t>
            </a:r>
            <a:endParaRPr lang="en-US" sz="1250" dirty="0"/>
          </a:p>
        </p:txBody>
      </p:sp>
      <p:sp>
        <p:nvSpPr>
          <p:cNvPr id="10" name="Shape 8"/>
          <p:cNvSpPr/>
          <p:nvPr/>
        </p:nvSpPr>
        <p:spPr>
          <a:xfrm>
            <a:off x="6217920" y="3108960"/>
            <a:ext cx="5394960" cy="1554480"/>
          </a:xfrm>
          <a:prstGeom prst="roundRect">
            <a:avLst>
              <a:gd name="adj" fmla="val 3529"/>
            </a:avLst>
          </a:prstGeom>
          <a:solidFill>
            <a:srgbClr val="EAF2F8"/>
          </a:solidFill>
          <a:ln w="12700">
            <a:solidFill>
              <a:srgbClr val="C5D3E0"/>
            </a:solidFill>
            <a:prstDash val="solid"/>
          </a:ln>
        </p:spPr>
        <p:txBody>
          <a:bodyPr/>
          <a:lstStyle/>
          <a:p>
            <a:endParaRPr lang="en-US"/>
          </a:p>
        </p:txBody>
      </p:sp>
      <p:sp>
        <p:nvSpPr>
          <p:cNvPr id="11" name="Text 9"/>
          <p:cNvSpPr txBox="1"/>
          <p:nvPr/>
        </p:nvSpPr>
        <p:spPr>
          <a:xfrm>
            <a:off x="6400800" y="3218688"/>
            <a:ext cx="5029200" cy="1335024"/>
          </a:xfrm>
          <a:prstGeom prst="rect">
            <a:avLst/>
          </a:prstGeom>
          <a:noFill/>
          <a:ln/>
        </p:spPr>
        <p:txBody>
          <a:bodyPr wrap="square" lIns="0" tIns="0" rIns="0" bIns="0" rtlCol="0" anchor="ctr"/>
          <a:lstStyle/>
          <a:p>
            <a:pPr marL="0" indent="0">
              <a:spcAft>
                <a:spcPts val="400"/>
              </a:spcAft>
              <a:buNone/>
            </a:pPr>
            <a:r>
              <a:rPr lang="en-US" sz="1250" b="1" dirty="0">
                <a:solidFill>
                  <a:srgbClr val="0B3D66"/>
                </a:solidFill>
                <a:latin typeface="Calibri" pitchFamily="34" charset="0"/>
                <a:ea typeface="Calibri" pitchFamily="34" charset="-122"/>
                <a:cs typeface="Calibri" pitchFamily="34" charset="-120"/>
              </a:rPr>
              <a:t>OR-Tools ILP solver </a:t>
            </a:r>
            <a:r>
              <a:rPr lang="en-US" sz="1150" i="1" dirty="0">
                <a:solidFill>
                  <a:srgbClr val="5A6B7A"/>
                </a:solidFill>
                <a:latin typeface="Calibri" pitchFamily="34" charset="0"/>
                <a:ea typeface="Calibri" pitchFamily="34" charset="-122"/>
                <a:cs typeface="Calibri" pitchFamily="34" charset="-120"/>
              </a:rPr>
              <a:t>over greedy heuristics</a:t>
            </a:r>
            <a:endParaRPr lang="en-US" sz="1250" dirty="0"/>
          </a:p>
          <a:p>
            <a:pPr marL="0" indent="0">
              <a:spcAft>
                <a:spcPts val="400"/>
              </a:spcAft>
              <a:buNone/>
            </a:pPr>
            <a:r>
              <a:rPr lang="en-US" sz="1100" dirty="0">
                <a:solidFill>
                  <a:srgbClr val="1A1A1A"/>
                </a:solidFill>
                <a:latin typeface="Calibri" pitchFamily="34" charset="0"/>
                <a:ea typeface="Calibri" pitchFamily="34" charset="-122"/>
                <a:cs typeface="Calibri" pitchFamily="34" charset="-120"/>
              </a:rPr>
              <a:t>Weight/volume/hazard limits are hard constraints; an infeasible season must be flagged, not fudged</a:t>
            </a:r>
            <a:endParaRPr lang="en-US" sz="1250" dirty="0"/>
          </a:p>
        </p:txBody>
      </p:sp>
      <p:sp>
        <p:nvSpPr>
          <p:cNvPr id="12" name="Shape 10"/>
          <p:cNvSpPr/>
          <p:nvPr/>
        </p:nvSpPr>
        <p:spPr>
          <a:xfrm>
            <a:off x="548640" y="4800600"/>
            <a:ext cx="5394960" cy="1554480"/>
          </a:xfrm>
          <a:prstGeom prst="roundRect">
            <a:avLst>
              <a:gd name="adj" fmla="val 3529"/>
            </a:avLst>
          </a:prstGeom>
          <a:solidFill>
            <a:srgbClr val="EAF2F8"/>
          </a:solidFill>
          <a:ln w="12700">
            <a:solidFill>
              <a:srgbClr val="C5D3E0"/>
            </a:solidFill>
            <a:prstDash val="solid"/>
          </a:ln>
        </p:spPr>
        <p:txBody>
          <a:bodyPr/>
          <a:lstStyle/>
          <a:p>
            <a:endParaRPr lang="en-US"/>
          </a:p>
        </p:txBody>
      </p:sp>
      <p:sp>
        <p:nvSpPr>
          <p:cNvPr id="13" name="Text 11"/>
          <p:cNvSpPr txBox="1"/>
          <p:nvPr/>
        </p:nvSpPr>
        <p:spPr>
          <a:xfrm>
            <a:off x="731520" y="4910328"/>
            <a:ext cx="5029200" cy="1335024"/>
          </a:xfrm>
          <a:prstGeom prst="rect">
            <a:avLst/>
          </a:prstGeom>
          <a:noFill/>
          <a:ln/>
        </p:spPr>
        <p:txBody>
          <a:bodyPr wrap="square" lIns="0" tIns="0" rIns="0" bIns="0" rtlCol="0" anchor="ctr"/>
          <a:lstStyle/>
          <a:p>
            <a:pPr marL="0" indent="0">
              <a:spcAft>
                <a:spcPts val="400"/>
              </a:spcAft>
              <a:buNone/>
            </a:pPr>
            <a:r>
              <a:rPr lang="en-US" sz="1250" b="1" dirty="0">
                <a:solidFill>
                  <a:srgbClr val="0B3D66"/>
                </a:solidFill>
                <a:latin typeface="Calibri" pitchFamily="34" charset="0"/>
                <a:ea typeface="Calibri" pitchFamily="34" charset="-122"/>
                <a:cs typeface="Calibri" pitchFamily="34" charset="-120"/>
              </a:rPr>
              <a:t>Priority-tagged deltas </a:t>
            </a:r>
            <a:r>
              <a:rPr lang="en-US" sz="1150" i="1" dirty="0">
                <a:solidFill>
                  <a:srgbClr val="5A6B7A"/>
                </a:solidFill>
                <a:latin typeface="Calibri" pitchFamily="34" charset="0"/>
                <a:ea typeface="Calibri" pitchFamily="34" charset="-122"/>
                <a:cs typeface="Calibri" pitchFamily="34" charset="-120"/>
              </a:rPr>
              <a:t>over full-state sync</a:t>
            </a:r>
            <a:endParaRPr lang="en-US" sz="1250" dirty="0"/>
          </a:p>
          <a:p>
            <a:pPr marL="0" indent="0">
              <a:spcAft>
                <a:spcPts val="400"/>
              </a:spcAft>
              <a:buNone/>
            </a:pPr>
            <a:r>
              <a:rPr lang="en-US" sz="1100" dirty="0">
                <a:solidFill>
                  <a:srgbClr val="1A1A1A"/>
                </a:solidFill>
                <a:latin typeface="Calibri" pitchFamily="34" charset="0"/>
                <a:ea typeface="Calibri" pitchFamily="34" charset="-122"/>
                <a:cs typeface="Calibri" pitchFamily="34" charset="-120"/>
              </a:rPr>
              <a:t>A day of events is a few KB — fits an Iridium window; safety events always go first</a:t>
            </a:r>
            <a:endParaRPr lang="en-US" sz="1250" dirty="0"/>
          </a:p>
        </p:txBody>
      </p:sp>
      <p:sp>
        <p:nvSpPr>
          <p:cNvPr id="14" name="Shape 12"/>
          <p:cNvSpPr/>
          <p:nvPr/>
        </p:nvSpPr>
        <p:spPr>
          <a:xfrm>
            <a:off x="6217920" y="4800600"/>
            <a:ext cx="5394960" cy="1554480"/>
          </a:xfrm>
          <a:prstGeom prst="roundRect">
            <a:avLst>
              <a:gd name="adj" fmla="val 3529"/>
            </a:avLst>
          </a:prstGeom>
          <a:solidFill>
            <a:srgbClr val="14532D"/>
          </a:solidFill>
          <a:ln w="12700">
            <a:solidFill>
              <a:srgbClr val="C5D3E0"/>
            </a:solidFill>
            <a:prstDash val="solid"/>
          </a:ln>
        </p:spPr>
        <p:txBody>
          <a:bodyPr/>
          <a:lstStyle/>
          <a:p>
            <a:endParaRPr lang="en-US"/>
          </a:p>
        </p:txBody>
      </p:sp>
      <p:sp>
        <p:nvSpPr>
          <p:cNvPr id="15" name="Text 13"/>
          <p:cNvSpPr txBox="1"/>
          <p:nvPr/>
        </p:nvSpPr>
        <p:spPr>
          <a:xfrm>
            <a:off x="6400800" y="4910328"/>
            <a:ext cx="5029200" cy="1335024"/>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No blockchain, no chatbot, no drones </a:t>
            </a:r>
            <a:r>
              <a:rPr lang="en-US" sz="1150" i="1" dirty="0">
                <a:solidFill>
                  <a:srgbClr val="CFE8D8"/>
                </a:solidFill>
                <a:latin typeface="Calibri" pitchFamily="34" charset="0"/>
                <a:ea typeface="Calibri" pitchFamily="34" charset="-122"/>
                <a:cs typeface="Calibri" pitchFamily="34" charset="-120"/>
              </a:rPr>
              <a:t>over trend-chasing</a:t>
            </a:r>
            <a:endParaRPr lang="en-US" sz="1250" dirty="0"/>
          </a:p>
          <a:p>
            <a:pPr marL="0" indent="0">
              <a:spcAft>
                <a:spcPts val="400"/>
              </a:spcAft>
              <a:buNone/>
            </a:pPr>
            <a:r>
              <a:rPr lang="en-US" sz="1100" dirty="0">
                <a:solidFill>
                  <a:srgbClr val="FFFFFF"/>
                </a:solidFill>
                <a:latin typeface="Calibri" pitchFamily="34" charset="0"/>
                <a:ea typeface="Calibri" pitchFamily="34" charset="-122"/>
                <a:cs typeface="Calibri" pitchFamily="34" charset="-120"/>
              </a:rPr>
              <a:t>The evaluator is an operations cell; the win condition is “still works when the cable is cut”</a:t>
            </a:r>
            <a:endParaRPr lang="en-US" sz="1250" dirty="0"/>
          </a:p>
        </p:txBody>
      </p:sp>
      <p:sp>
        <p:nvSpPr>
          <p:cNvPr id="16" name="Text 14"/>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17" name="Text 15"/>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Already working — before day one</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Conservative claims we can show on request</a:t>
            </a:r>
            <a:endParaRPr lang="en-US" sz="1200" dirty="0"/>
          </a:p>
        </p:txBody>
      </p:sp>
      <p:sp>
        <p:nvSpPr>
          <p:cNvPr id="4" name="Shape 2"/>
          <p:cNvSpPr/>
          <p:nvPr/>
        </p:nvSpPr>
        <p:spPr>
          <a:xfrm>
            <a:off x="548640" y="1463040"/>
            <a:ext cx="822960" cy="868680"/>
          </a:xfrm>
          <a:prstGeom prst="roundRect">
            <a:avLst>
              <a:gd name="adj" fmla="val 8889"/>
            </a:avLst>
          </a:prstGeom>
          <a:solidFill>
            <a:srgbClr val="14532D"/>
          </a:solidFill>
          <a:ln/>
        </p:spPr>
        <p:txBody>
          <a:bodyPr/>
          <a:lstStyle/>
          <a:p>
            <a:endParaRPr lang="en-US"/>
          </a:p>
        </p:txBody>
      </p:sp>
      <p:sp>
        <p:nvSpPr>
          <p:cNvPr id="5" name="Text 3"/>
          <p:cNvSpPr txBox="1"/>
          <p:nvPr/>
        </p:nvSpPr>
        <p:spPr>
          <a:xfrm>
            <a:off x="548640" y="1463040"/>
            <a:ext cx="82296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6" name="Text 4"/>
          <p:cNvSpPr txBox="1"/>
          <p:nvPr/>
        </p:nvSpPr>
        <p:spPr>
          <a:xfrm>
            <a:off x="1600200" y="1517904"/>
            <a:ext cx="9966960" cy="822960"/>
          </a:xfrm>
          <a:prstGeom prst="rect">
            <a:avLst/>
          </a:prstGeom>
          <a:noFill/>
          <a:ln/>
        </p:spPr>
        <p:txBody>
          <a:bodyPr wrap="square" lIns="0" tIns="0" rIns="0" bIns="0" rtlCol="0" anchor="ctr"/>
          <a:lstStyle/>
          <a:p>
            <a:pPr marL="0" indent="0">
              <a:spcAft>
                <a:spcPts val="300"/>
              </a:spcAft>
              <a:buNone/>
            </a:pPr>
            <a:r>
              <a:rPr lang="en-US" sz="1400" b="1" dirty="0">
                <a:solidFill>
                  <a:srgbClr val="0B3D66"/>
                </a:solidFill>
                <a:latin typeface="Calibri" pitchFamily="34" charset="0"/>
                <a:ea typeface="Calibri" pitchFamily="34" charset="-122"/>
                <a:cs typeface="Calibri" pitchFamily="34" charset="-120"/>
              </a:rPr>
              <a:t>Event-log schema (schema.sql)</a:t>
            </a:r>
            <a:endParaRPr lang="en-US" sz="1400" dirty="0"/>
          </a:p>
          <a:p>
            <a:pPr marL="0" indent="0">
              <a:spcAft>
                <a:spcPts val="300"/>
              </a:spcAft>
              <a:buNone/>
            </a:pPr>
            <a:r>
              <a:rPr lang="en-US" sz="1250" dirty="0">
                <a:solidFill>
                  <a:srgbClr val="1A1A1A"/>
                </a:solidFill>
                <a:latin typeface="Calibri" pitchFamily="34" charset="0"/>
                <a:ea typeface="Calibri" pitchFamily="34" charset="-122"/>
                <a:cs typeface="Calibri" pitchFamily="34" charset="-120"/>
              </a:rPr>
              <a:t>18 event types; stock, cargo location and roster are views rebuilt by replaying the log</a:t>
            </a:r>
            <a:endParaRPr lang="en-US" sz="1400" dirty="0"/>
          </a:p>
        </p:txBody>
      </p:sp>
      <p:sp>
        <p:nvSpPr>
          <p:cNvPr id="7" name="Shape 5"/>
          <p:cNvSpPr/>
          <p:nvPr/>
        </p:nvSpPr>
        <p:spPr>
          <a:xfrm>
            <a:off x="548640" y="2514600"/>
            <a:ext cx="822960" cy="868680"/>
          </a:xfrm>
          <a:prstGeom prst="roundRect">
            <a:avLst>
              <a:gd name="adj" fmla="val 8889"/>
            </a:avLst>
          </a:prstGeom>
          <a:solidFill>
            <a:srgbClr val="14532D"/>
          </a:solidFill>
          <a:ln/>
        </p:spPr>
        <p:txBody>
          <a:bodyPr/>
          <a:lstStyle/>
          <a:p>
            <a:endParaRPr lang="en-US"/>
          </a:p>
        </p:txBody>
      </p:sp>
      <p:sp>
        <p:nvSpPr>
          <p:cNvPr id="8" name="Text 6"/>
          <p:cNvSpPr txBox="1"/>
          <p:nvPr/>
        </p:nvSpPr>
        <p:spPr>
          <a:xfrm>
            <a:off x="548640" y="2514600"/>
            <a:ext cx="82296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9" name="Text 7"/>
          <p:cNvSpPr txBox="1"/>
          <p:nvPr/>
        </p:nvSpPr>
        <p:spPr>
          <a:xfrm>
            <a:off x="1600200" y="2569464"/>
            <a:ext cx="9966960" cy="822960"/>
          </a:xfrm>
          <a:prstGeom prst="rect">
            <a:avLst/>
          </a:prstGeom>
          <a:noFill/>
          <a:ln/>
        </p:spPr>
        <p:txBody>
          <a:bodyPr wrap="square" lIns="0" tIns="0" rIns="0" bIns="0" rtlCol="0" anchor="ctr"/>
          <a:lstStyle/>
          <a:p>
            <a:pPr marL="0" indent="0">
              <a:spcAft>
                <a:spcPts val="300"/>
              </a:spcAft>
              <a:buNone/>
            </a:pPr>
            <a:r>
              <a:rPr lang="en-US" sz="1400" b="1" dirty="0">
                <a:solidFill>
                  <a:srgbClr val="0B3D66"/>
                </a:solidFill>
                <a:latin typeface="Calibri" pitchFamily="34" charset="0"/>
                <a:ea typeface="Calibri" pitchFamily="34" charset="-122"/>
                <a:cs typeface="Calibri" pitchFamily="34" charset="-120"/>
              </a:rPr>
              <a:t>Synthetic season generator</a:t>
            </a:r>
            <a:endParaRPr lang="en-US" sz="1400" dirty="0"/>
          </a:p>
          <a:p>
            <a:pPr marL="0" indent="0">
              <a:spcAft>
                <a:spcPts val="300"/>
              </a:spcAft>
              <a:buNone/>
            </a:pPr>
            <a:r>
              <a:rPr lang="en-US" sz="1250" dirty="0">
                <a:solidFill>
                  <a:srgbClr val="1A1A1A"/>
                </a:solidFill>
                <a:latin typeface="Calibri" pitchFamily="34" charset="0"/>
                <a:ea typeface="Calibri" pitchFamily="34" charset="-122"/>
                <a:cs typeface="Calibri" pitchFamily="34" charset="-120"/>
              </a:rPr>
              <a:t>One full ISEA: 3 cargo lots, ~400 manifest lines, 35 members, 2 stations → 5,439 events loaded in SQLite</a:t>
            </a:r>
            <a:endParaRPr lang="en-US" sz="1400" dirty="0"/>
          </a:p>
        </p:txBody>
      </p:sp>
      <p:sp>
        <p:nvSpPr>
          <p:cNvPr id="10" name="Shape 8"/>
          <p:cNvSpPr/>
          <p:nvPr/>
        </p:nvSpPr>
        <p:spPr>
          <a:xfrm>
            <a:off x="548640" y="3566160"/>
            <a:ext cx="822960" cy="868680"/>
          </a:xfrm>
          <a:prstGeom prst="roundRect">
            <a:avLst>
              <a:gd name="adj" fmla="val 8889"/>
            </a:avLst>
          </a:prstGeom>
          <a:solidFill>
            <a:srgbClr val="14532D"/>
          </a:solidFill>
          <a:ln/>
        </p:spPr>
        <p:txBody>
          <a:bodyPr/>
          <a:lstStyle/>
          <a:p>
            <a:endParaRPr lang="en-US"/>
          </a:p>
        </p:txBody>
      </p:sp>
      <p:sp>
        <p:nvSpPr>
          <p:cNvPr id="11" name="Text 9"/>
          <p:cNvSpPr txBox="1"/>
          <p:nvPr/>
        </p:nvSpPr>
        <p:spPr>
          <a:xfrm>
            <a:off x="548640" y="3566160"/>
            <a:ext cx="82296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2" name="Text 10"/>
          <p:cNvSpPr txBox="1"/>
          <p:nvPr/>
        </p:nvSpPr>
        <p:spPr>
          <a:xfrm>
            <a:off x="1600200" y="3621024"/>
            <a:ext cx="9966960" cy="822960"/>
          </a:xfrm>
          <a:prstGeom prst="rect">
            <a:avLst/>
          </a:prstGeom>
          <a:noFill/>
          <a:ln/>
        </p:spPr>
        <p:txBody>
          <a:bodyPr wrap="square" lIns="0" tIns="0" rIns="0" bIns="0" rtlCol="0" anchor="ctr"/>
          <a:lstStyle/>
          <a:p>
            <a:pPr marL="0" indent="0">
              <a:spcAft>
                <a:spcPts val="300"/>
              </a:spcAft>
              <a:buNone/>
            </a:pPr>
            <a:r>
              <a:rPr lang="en-US" sz="1400" b="1" dirty="0">
                <a:solidFill>
                  <a:srgbClr val="0B3D66"/>
                </a:solidFill>
                <a:latin typeface="Calibri" pitchFamily="34" charset="0"/>
                <a:ea typeface="Calibri" pitchFamily="34" charset="-122"/>
                <a:cs typeface="Calibri" pitchFamily="34" charset="-120"/>
              </a:rPr>
              <a:t>Burn-rate forecast query</a:t>
            </a:r>
            <a:endParaRPr lang="en-US" sz="1400" dirty="0"/>
          </a:p>
          <a:p>
            <a:pPr marL="0" indent="0">
              <a:spcAft>
                <a:spcPts val="300"/>
              </a:spcAft>
              <a:buNone/>
            </a:pPr>
            <a:r>
              <a:rPr lang="en-US" sz="1250" dirty="0">
                <a:solidFill>
                  <a:srgbClr val="1A1A1A"/>
                </a:solidFill>
                <a:latin typeface="Calibri" pitchFamily="34" charset="0"/>
                <a:ea typeface="Calibri" pitchFamily="34" charset="-122"/>
                <a:cs typeface="Calibri" pitchFamily="34" charset="-120"/>
              </a:rPr>
              <a:t>Same headcount, same burn: Maitri diesel crosses zero 2 Oct — seven weeks before the ship. Bharati safe.</a:t>
            </a:r>
            <a:endParaRPr lang="en-US" sz="1400" dirty="0"/>
          </a:p>
        </p:txBody>
      </p:sp>
      <p:sp>
        <p:nvSpPr>
          <p:cNvPr id="13" name="Shape 11"/>
          <p:cNvSpPr/>
          <p:nvPr/>
        </p:nvSpPr>
        <p:spPr>
          <a:xfrm>
            <a:off x="548640" y="4617720"/>
            <a:ext cx="822960" cy="868680"/>
          </a:xfrm>
          <a:prstGeom prst="roundRect">
            <a:avLst>
              <a:gd name="adj" fmla="val 8889"/>
            </a:avLst>
          </a:prstGeom>
          <a:solidFill>
            <a:srgbClr val="14532D"/>
          </a:solidFill>
          <a:ln/>
        </p:spPr>
        <p:txBody>
          <a:bodyPr/>
          <a:lstStyle/>
          <a:p>
            <a:endParaRPr lang="en-US"/>
          </a:p>
        </p:txBody>
      </p:sp>
      <p:sp>
        <p:nvSpPr>
          <p:cNvPr id="14" name="Text 12"/>
          <p:cNvSpPr txBox="1"/>
          <p:nvPr/>
        </p:nvSpPr>
        <p:spPr>
          <a:xfrm>
            <a:off x="548640" y="4617720"/>
            <a:ext cx="82296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5" name="Text 13"/>
          <p:cNvSpPr txBox="1"/>
          <p:nvPr/>
        </p:nvSpPr>
        <p:spPr>
          <a:xfrm>
            <a:off x="1600200" y="4672584"/>
            <a:ext cx="9966960" cy="822960"/>
          </a:xfrm>
          <a:prstGeom prst="rect">
            <a:avLst/>
          </a:prstGeom>
          <a:noFill/>
          <a:ln/>
        </p:spPr>
        <p:txBody>
          <a:bodyPr wrap="square" lIns="0" tIns="0" rIns="0" bIns="0" rtlCol="0" anchor="ctr"/>
          <a:lstStyle/>
          <a:p>
            <a:pPr marL="0" indent="0">
              <a:spcAft>
                <a:spcPts val="300"/>
              </a:spcAft>
              <a:buNone/>
            </a:pPr>
            <a:r>
              <a:rPr lang="en-US" sz="1400" b="1" dirty="0">
                <a:solidFill>
                  <a:srgbClr val="0B3D66"/>
                </a:solidFill>
                <a:latin typeface="Calibri" pitchFamily="34" charset="0"/>
                <a:ea typeface="Calibri" pitchFamily="34" charset="-122"/>
                <a:cs typeface="Calibri" pitchFamily="34" charset="-120"/>
              </a:rPr>
              <a:t>Bandwidth budget (measured)</a:t>
            </a:r>
            <a:endParaRPr lang="en-US" sz="1400" dirty="0"/>
          </a:p>
          <a:p>
            <a:pPr marL="0" indent="0">
              <a:spcAft>
                <a:spcPts val="300"/>
              </a:spcAft>
              <a:buNone/>
            </a:pPr>
            <a:r>
              <a:rPr lang="en-US" sz="1250" dirty="0">
                <a:solidFill>
                  <a:srgbClr val="1A1A1A"/>
                </a:solidFill>
                <a:latin typeface="Calibri" pitchFamily="34" charset="0"/>
                <a:ea typeface="Calibri" pitchFamily="34" charset="-122"/>
                <a:cs typeface="Calibri" pitchFamily="34" charset="-120"/>
              </a:rPr>
              <a:t>A day of station events serialises to a few KB of deltas — inside a 15-min Iridium window</a:t>
            </a:r>
            <a:endParaRPr lang="en-US" sz="1400" dirty="0"/>
          </a:p>
        </p:txBody>
      </p:sp>
      <p:sp>
        <p:nvSpPr>
          <p:cNvPr id="16" name="Text 14"/>
          <p:cNvSpPr txBox="1"/>
          <p:nvPr/>
        </p:nvSpPr>
        <p:spPr>
          <a:xfrm>
            <a:off x="548640" y="5806440"/>
            <a:ext cx="11064240" cy="548640"/>
          </a:xfrm>
          <a:prstGeom prst="rect">
            <a:avLst/>
          </a:prstGeom>
          <a:noFill/>
          <a:ln/>
        </p:spPr>
        <p:txBody>
          <a:bodyPr wrap="square" lIns="0" tIns="0" rIns="0" bIns="0" rtlCol="0" anchor="ctr"/>
          <a:lstStyle/>
          <a:p>
            <a:pPr marL="0" indent="0">
              <a:buNone/>
            </a:pPr>
            <a:r>
              <a:rPr lang="en-US" sz="1200" i="1" dirty="0">
                <a:solidFill>
                  <a:srgbClr val="5A6B7A"/>
                </a:solidFill>
                <a:latin typeface="Calibri" pitchFamily="34" charset="0"/>
                <a:ea typeface="Calibri" pitchFamily="34" charset="-122"/>
                <a:cs typeface="Calibri" pitchFamily="34" charset="-120"/>
              </a:rPr>
              <a:t>What we are NOT claiming yet: no UI screens, no live sync between machines, no solver runs. That is exactly what the 5-day plan builds — and what you will see improve between rounds.</a:t>
            </a:r>
            <a:endParaRPr lang="en-US" sz="1200" dirty="0"/>
          </a:p>
        </p:txBody>
      </p:sp>
      <p:sp>
        <p:nvSpPr>
          <p:cNvPr id="17" name="Text 15"/>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18" name="Text 16"/>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Feasibility, risks, and honest limitations</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Where it can break, and what we do about it</a:t>
            </a:r>
            <a:endParaRPr lang="en-US" sz="1200" dirty="0"/>
          </a:p>
        </p:txBody>
      </p:sp>
      <p:sp>
        <p:nvSpPr>
          <p:cNvPr id="4" name="Text 2"/>
          <p:cNvSpPr txBox="1"/>
          <p:nvPr/>
        </p:nvSpPr>
        <p:spPr>
          <a:xfrm>
            <a:off x="548640" y="1371600"/>
            <a:ext cx="4937760" cy="731520"/>
          </a:xfrm>
          <a:prstGeom prst="rect">
            <a:avLst/>
          </a:prstGeom>
          <a:noFill/>
          <a:ln/>
        </p:spPr>
        <p:txBody>
          <a:bodyPr wrap="square" lIns="0" tIns="0" rIns="0" bIns="0" rtlCol="0" anchor="t"/>
          <a:lstStyle/>
          <a:p>
            <a:pPr marL="0" indent="0">
              <a:buNone/>
            </a:pPr>
            <a:r>
              <a:rPr lang="en-US" sz="1150" b="1" dirty="0">
                <a:solidFill>
                  <a:srgbClr val="B91C1C"/>
                </a:solidFill>
                <a:latin typeface="Calibri" pitchFamily="34" charset="0"/>
                <a:ea typeface="Calibri" pitchFamily="34" charset="-122"/>
                <a:cs typeface="Calibri" pitchFamily="34" charset="-120"/>
              </a:rPr>
              <a:t>Risk: </a:t>
            </a:r>
            <a:r>
              <a:rPr lang="en-US" sz="1150" dirty="0">
                <a:solidFill>
                  <a:srgbClr val="1A1A1A"/>
                </a:solidFill>
                <a:latin typeface="Calibri" pitchFamily="34" charset="0"/>
                <a:ea typeface="Calibri" pitchFamily="34" charset="-122"/>
                <a:cs typeface="Calibri" pitchFamily="34" charset="-120"/>
              </a:rPr>
              <a:t>Conflicting edits from disconnected nodes</a:t>
            </a:r>
            <a:endParaRPr lang="en-US" sz="1150" dirty="0"/>
          </a:p>
        </p:txBody>
      </p:sp>
      <p:sp>
        <p:nvSpPr>
          <p:cNvPr id="5" name="Text 3"/>
          <p:cNvSpPr txBox="1"/>
          <p:nvPr/>
        </p:nvSpPr>
        <p:spPr>
          <a:xfrm>
            <a:off x="5669280" y="1371600"/>
            <a:ext cx="5943600" cy="731520"/>
          </a:xfrm>
          <a:prstGeom prst="rect">
            <a:avLst/>
          </a:prstGeom>
          <a:noFill/>
          <a:ln/>
        </p:spPr>
        <p:txBody>
          <a:bodyPr wrap="square" lIns="0" tIns="0" rIns="0" bIns="0" rtlCol="0" anchor="t"/>
          <a:lstStyle/>
          <a:p>
            <a:pPr marL="0" indent="0">
              <a:buNone/>
            </a:pPr>
            <a:r>
              <a:rPr lang="en-US" sz="1150" b="1" dirty="0">
                <a:solidFill>
                  <a:srgbClr val="14532D"/>
                </a:solidFill>
                <a:latin typeface="Calibri" pitchFamily="34" charset="0"/>
                <a:ea typeface="Calibri" pitchFamily="34" charset="-122"/>
                <a:cs typeface="Calibri" pitchFamily="34" charset="-120"/>
              </a:rPr>
              <a:t>Mitigation: </a:t>
            </a:r>
            <a:r>
              <a:rPr lang="en-US" sz="1150" dirty="0">
                <a:solidFill>
                  <a:srgbClr val="1A1A1A"/>
                </a:solidFill>
                <a:latin typeface="Calibri" pitchFamily="34" charset="0"/>
                <a:ea typeface="Calibri" pitchFamily="34" charset="-122"/>
                <a:cs typeface="Calibri" pitchFamily="34" charset="-120"/>
              </a:rPr>
              <a:t>Per-node sequence numbers; append-only means no overwrites; STOCK_COUNTED audit events reconcile projection vs. physical count</a:t>
            </a:r>
            <a:endParaRPr lang="en-US" sz="1150" dirty="0"/>
          </a:p>
        </p:txBody>
      </p:sp>
      <p:sp>
        <p:nvSpPr>
          <p:cNvPr id="6" name="Text 4"/>
          <p:cNvSpPr txBox="1"/>
          <p:nvPr/>
        </p:nvSpPr>
        <p:spPr>
          <a:xfrm>
            <a:off x="548640" y="2167128"/>
            <a:ext cx="4937760" cy="731520"/>
          </a:xfrm>
          <a:prstGeom prst="rect">
            <a:avLst/>
          </a:prstGeom>
          <a:noFill/>
          <a:ln/>
        </p:spPr>
        <p:txBody>
          <a:bodyPr wrap="square" lIns="0" tIns="0" rIns="0" bIns="0" rtlCol="0" anchor="t"/>
          <a:lstStyle/>
          <a:p>
            <a:pPr marL="0" indent="0">
              <a:buNone/>
            </a:pPr>
            <a:r>
              <a:rPr lang="en-US" sz="1150" b="1" dirty="0">
                <a:solidFill>
                  <a:srgbClr val="B91C1C"/>
                </a:solidFill>
                <a:latin typeface="Calibri" pitchFamily="34" charset="0"/>
                <a:ea typeface="Calibri" pitchFamily="34" charset="-122"/>
                <a:cs typeface="Calibri" pitchFamily="34" charset="-120"/>
              </a:rPr>
              <a:t>Risk: </a:t>
            </a:r>
            <a:r>
              <a:rPr lang="en-US" sz="1150" dirty="0">
                <a:solidFill>
                  <a:srgbClr val="1A1A1A"/>
                </a:solidFill>
                <a:latin typeface="Calibri" pitchFamily="34" charset="0"/>
                <a:ea typeface="Calibri" pitchFamily="34" charset="-122"/>
                <a:cs typeface="Calibri" pitchFamily="34" charset="-120"/>
              </a:rPr>
              <a:t>NCPOR already runs GeM procurement &amp; e-office</a:t>
            </a:r>
            <a:endParaRPr lang="en-US" sz="1150" dirty="0"/>
          </a:p>
        </p:txBody>
      </p:sp>
      <p:sp>
        <p:nvSpPr>
          <p:cNvPr id="7" name="Text 5"/>
          <p:cNvSpPr txBox="1"/>
          <p:nvPr/>
        </p:nvSpPr>
        <p:spPr>
          <a:xfrm>
            <a:off x="5669280" y="2167128"/>
            <a:ext cx="5943600" cy="731520"/>
          </a:xfrm>
          <a:prstGeom prst="rect">
            <a:avLst/>
          </a:prstGeom>
          <a:noFill/>
          <a:ln/>
        </p:spPr>
        <p:txBody>
          <a:bodyPr wrap="square" lIns="0" tIns="0" rIns="0" bIns="0" rtlCol="0" anchor="t"/>
          <a:lstStyle/>
          <a:p>
            <a:pPr marL="0" indent="0">
              <a:buNone/>
            </a:pPr>
            <a:r>
              <a:rPr lang="en-US" sz="1150" b="1" dirty="0">
                <a:solidFill>
                  <a:srgbClr val="14532D"/>
                </a:solidFill>
                <a:latin typeface="Calibri" pitchFamily="34" charset="0"/>
                <a:ea typeface="Calibri" pitchFamily="34" charset="-122"/>
                <a:cs typeface="Calibri" pitchFamily="34" charset="-120"/>
              </a:rPr>
              <a:t>Mitigation: </a:t>
            </a:r>
            <a:r>
              <a:rPr lang="en-US" sz="1150" dirty="0">
                <a:solidFill>
                  <a:srgbClr val="1A1A1A"/>
                </a:solidFill>
                <a:latin typeface="Calibri" pitchFamily="34" charset="0"/>
                <a:ea typeface="Calibri" pitchFamily="34" charset="-122"/>
                <a:cs typeface="Calibri" pitchFamily="34" charset="-120"/>
              </a:rPr>
              <a:t>PolarOS is the operational layer — API hooks to existing systems, never a procurement rebuild</a:t>
            </a:r>
            <a:endParaRPr lang="en-US" sz="1150" dirty="0"/>
          </a:p>
        </p:txBody>
      </p:sp>
      <p:sp>
        <p:nvSpPr>
          <p:cNvPr id="8" name="Text 6"/>
          <p:cNvSpPr txBox="1"/>
          <p:nvPr/>
        </p:nvSpPr>
        <p:spPr>
          <a:xfrm>
            <a:off x="548640" y="2962656"/>
            <a:ext cx="4937760" cy="731520"/>
          </a:xfrm>
          <a:prstGeom prst="rect">
            <a:avLst/>
          </a:prstGeom>
          <a:noFill/>
          <a:ln/>
        </p:spPr>
        <p:txBody>
          <a:bodyPr wrap="square" lIns="0" tIns="0" rIns="0" bIns="0" rtlCol="0" anchor="t"/>
          <a:lstStyle/>
          <a:p>
            <a:pPr marL="0" indent="0">
              <a:buNone/>
            </a:pPr>
            <a:r>
              <a:rPr lang="en-US" sz="1150" b="1" dirty="0">
                <a:solidFill>
                  <a:srgbClr val="B91C1C"/>
                </a:solidFill>
                <a:latin typeface="Calibri" pitchFamily="34" charset="0"/>
                <a:ea typeface="Calibri" pitchFamily="34" charset="-122"/>
                <a:cs typeface="Calibri" pitchFamily="34" charset="-120"/>
              </a:rPr>
              <a:t>Risk: </a:t>
            </a:r>
            <a:r>
              <a:rPr lang="en-US" sz="1150" dirty="0">
                <a:solidFill>
                  <a:srgbClr val="1A1A1A"/>
                </a:solidFill>
                <a:latin typeface="Calibri" pitchFamily="34" charset="0"/>
                <a:ea typeface="Calibri" pitchFamily="34" charset="-122"/>
                <a:cs typeface="Calibri" pitchFamily="34" charset="-120"/>
              </a:rPr>
              <a:t>Users wear gloves, work in low light, are not developers</a:t>
            </a:r>
            <a:endParaRPr lang="en-US" sz="1150" dirty="0"/>
          </a:p>
        </p:txBody>
      </p:sp>
      <p:sp>
        <p:nvSpPr>
          <p:cNvPr id="9" name="Text 7"/>
          <p:cNvSpPr txBox="1"/>
          <p:nvPr/>
        </p:nvSpPr>
        <p:spPr>
          <a:xfrm>
            <a:off x="5669280" y="2962656"/>
            <a:ext cx="5943600" cy="731520"/>
          </a:xfrm>
          <a:prstGeom prst="rect">
            <a:avLst/>
          </a:prstGeom>
          <a:noFill/>
          <a:ln/>
        </p:spPr>
        <p:txBody>
          <a:bodyPr wrap="square" lIns="0" tIns="0" rIns="0" bIns="0" rtlCol="0" anchor="t"/>
          <a:lstStyle/>
          <a:p>
            <a:pPr marL="0" indent="0">
              <a:buNone/>
            </a:pPr>
            <a:r>
              <a:rPr lang="en-US" sz="1150" b="1" dirty="0">
                <a:solidFill>
                  <a:srgbClr val="14532D"/>
                </a:solidFill>
                <a:latin typeface="Calibri" pitchFamily="34" charset="0"/>
                <a:ea typeface="Calibri" pitchFamily="34" charset="-122"/>
                <a:cs typeface="Calibri" pitchFamily="34" charset="-120"/>
              </a:rPr>
              <a:t>Mitigation: </a:t>
            </a:r>
            <a:r>
              <a:rPr lang="en-US" sz="1150" dirty="0">
                <a:solidFill>
                  <a:srgbClr val="1A1A1A"/>
                </a:solidFill>
                <a:latin typeface="Calibri" pitchFamily="34" charset="0"/>
                <a:ea typeface="Calibri" pitchFamily="34" charset="-122"/>
                <a:cs typeface="Calibri" pitchFamily="34" charset="-120"/>
              </a:rPr>
              <a:t>Large tap targets, QR-first input, one-tap SOPs; every station screen usable on a phone</a:t>
            </a:r>
            <a:endParaRPr lang="en-US" sz="1150" dirty="0"/>
          </a:p>
        </p:txBody>
      </p:sp>
      <p:sp>
        <p:nvSpPr>
          <p:cNvPr id="10" name="Text 8"/>
          <p:cNvSpPr txBox="1"/>
          <p:nvPr/>
        </p:nvSpPr>
        <p:spPr>
          <a:xfrm>
            <a:off x="548640" y="3758184"/>
            <a:ext cx="4937760" cy="731520"/>
          </a:xfrm>
          <a:prstGeom prst="rect">
            <a:avLst/>
          </a:prstGeom>
          <a:noFill/>
          <a:ln/>
        </p:spPr>
        <p:txBody>
          <a:bodyPr wrap="square" lIns="0" tIns="0" rIns="0" bIns="0" rtlCol="0" anchor="t"/>
          <a:lstStyle/>
          <a:p>
            <a:pPr marL="0" indent="0">
              <a:buNone/>
            </a:pPr>
            <a:r>
              <a:rPr lang="en-US" sz="1150" b="1" dirty="0">
                <a:solidFill>
                  <a:srgbClr val="B91C1C"/>
                </a:solidFill>
                <a:latin typeface="Calibri" pitchFamily="34" charset="0"/>
                <a:ea typeface="Calibri" pitchFamily="34" charset="-122"/>
                <a:cs typeface="Calibri" pitchFamily="34" charset="-120"/>
              </a:rPr>
              <a:t>Risk: </a:t>
            </a:r>
            <a:r>
              <a:rPr lang="en-US" sz="1150" dirty="0">
                <a:solidFill>
                  <a:srgbClr val="1A1A1A"/>
                </a:solidFill>
                <a:latin typeface="Calibri" pitchFamily="34" charset="0"/>
                <a:ea typeface="Calibri" pitchFamily="34" charset="-122"/>
                <a:cs typeface="Calibri" pitchFamily="34" charset="-120"/>
              </a:rPr>
              <a:t>Hardware dies at −40 °C</a:t>
            </a:r>
            <a:endParaRPr lang="en-US" sz="1150" dirty="0"/>
          </a:p>
        </p:txBody>
      </p:sp>
      <p:sp>
        <p:nvSpPr>
          <p:cNvPr id="11" name="Text 9"/>
          <p:cNvSpPr txBox="1"/>
          <p:nvPr/>
        </p:nvSpPr>
        <p:spPr>
          <a:xfrm>
            <a:off x="5669280" y="3758184"/>
            <a:ext cx="5943600" cy="731520"/>
          </a:xfrm>
          <a:prstGeom prst="rect">
            <a:avLst/>
          </a:prstGeom>
          <a:noFill/>
          <a:ln/>
        </p:spPr>
        <p:txBody>
          <a:bodyPr wrap="square" lIns="0" tIns="0" rIns="0" bIns="0" rtlCol="0" anchor="t"/>
          <a:lstStyle/>
          <a:p>
            <a:pPr marL="0" indent="0">
              <a:buNone/>
            </a:pPr>
            <a:r>
              <a:rPr lang="en-US" sz="1150" b="1" dirty="0">
                <a:solidFill>
                  <a:srgbClr val="14532D"/>
                </a:solidFill>
                <a:latin typeface="Calibri" pitchFamily="34" charset="0"/>
                <a:ea typeface="Calibri" pitchFamily="34" charset="-122"/>
                <a:cs typeface="Calibri" pitchFamily="34" charset="-120"/>
              </a:rPr>
              <a:t>Mitigation: </a:t>
            </a:r>
            <a:r>
              <a:rPr lang="en-US" sz="1150" dirty="0">
                <a:solidFill>
                  <a:srgbClr val="1A1A1A"/>
                </a:solidFill>
                <a:latin typeface="Calibri" pitchFamily="34" charset="0"/>
                <a:ea typeface="Calibri" pitchFamily="34" charset="-122"/>
                <a:cs typeface="Calibri" pitchFamily="34" charset="-120"/>
              </a:rPr>
              <a:t>App runs on any laptop; the log is one file — a USB stick is a valid backup and a valid sync</a:t>
            </a:r>
            <a:endParaRPr lang="en-US" sz="1150" dirty="0"/>
          </a:p>
        </p:txBody>
      </p:sp>
      <p:sp>
        <p:nvSpPr>
          <p:cNvPr id="12" name="Text 10"/>
          <p:cNvSpPr txBox="1"/>
          <p:nvPr/>
        </p:nvSpPr>
        <p:spPr>
          <a:xfrm>
            <a:off x="548640" y="4553712"/>
            <a:ext cx="4937760" cy="731520"/>
          </a:xfrm>
          <a:prstGeom prst="rect">
            <a:avLst/>
          </a:prstGeom>
          <a:noFill/>
          <a:ln/>
        </p:spPr>
        <p:txBody>
          <a:bodyPr wrap="square" lIns="0" tIns="0" rIns="0" bIns="0" rtlCol="0" anchor="t"/>
          <a:lstStyle/>
          <a:p>
            <a:pPr marL="0" indent="0">
              <a:buNone/>
            </a:pPr>
            <a:r>
              <a:rPr lang="en-US" sz="1150" b="1" dirty="0">
                <a:solidFill>
                  <a:srgbClr val="B91C1C"/>
                </a:solidFill>
                <a:latin typeface="Calibri" pitchFamily="34" charset="0"/>
                <a:ea typeface="Calibri" pitchFamily="34" charset="-122"/>
                <a:cs typeface="Calibri" pitchFamily="34" charset="-120"/>
              </a:rPr>
              <a:t>Risk: </a:t>
            </a:r>
            <a:r>
              <a:rPr lang="en-US" sz="1150" dirty="0">
                <a:solidFill>
                  <a:srgbClr val="1A1A1A"/>
                </a:solidFill>
                <a:latin typeface="Calibri" pitchFamily="34" charset="0"/>
                <a:ea typeface="Calibri" pitchFamily="34" charset="-122"/>
                <a:cs typeface="Calibri" pitchFamily="34" charset="-120"/>
              </a:rPr>
              <a:t>Forecast is only as good as consumption logging</a:t>
            </a:r>
            <a:endParaRPr lang="en-US" sz="1150" dirty="0"/>
          </a:p>
        </p:txBody>
      </p:sp>
      <p:sp>
        <p:nvSpPr>
          <p:cNvPr id="13" name="Text 11"/>
          <p:cNvSpPr txBox="1"/>
          <p:nvPr/>
        </p:nvSpPr>
        <p:spPr>
          <a:xfrm>
            <a:off x="5669280" y="4553712"/>
            <a:ext cx="5943600" cy="731520"/>
          </a:xfrm>
          <a:prstGeom prst="rect">
            <a:avLst/>
          </a:prstGeom>
          <a:noFill/>
          <a:ln/>
        </p:spPr>
        <p:txBody>
          <a:bodyPr wrap="square" lIns="0" tIns="0" rIns="0" bIns="0" rtlCol="0" anchor="t"/>
          <a:lstStyle/>
          <a:p>
            <a:pPr marL="0" indent="0">
              <a:buNone/>
            </a:pPr>
            <a:r>
              <a:rPr lang="en-US" sz="1150" b="1" dirty="0">
                <a:solidFill>
                  <a:srgbClr val="14532D"/>
                </a:solidFill>
                <a:latin typeface="Calibri" pitchFamily="34" charset="0"/>
                <a:ea typeface="Calibri" pitchFamily="34" charset="-122"/>
                <a:cs typeface="Calibri" pitchFamily="34" charset="-120"/>
              </a:rPr>
              <a:t>Mitigation: </a:t>
            </a:r>
            <a:r>
              <a:rPr lang="en-US" sz="1150" dirty="0">
                <a:solidFill>
                  <a:srgbClr val="1A1A1A"/>
                </a:solidFill>
                <a:latin typeface="Calibri" pitchFamily="34" charset="0"/>
                <a:ea typeface="Calibri" pitchFamily="34" charset="-122"/>
                <a:cs typeface="Calibri" pitchFamily="34" charset="-120"/>
              </a:rPr>
              <a:t>Start with daily aggregate entries (2 min/day); audits correct drift; conservative safety margins on stock-out dates</a:t>
            </a:r>
            <a:endParaRPr lang="en-US" sz="1150" dirty="0"/>
          </a:p>
        </p:txBody>
      </p:sp>
      <p:sp>
        <p:nvSpPr>
          <p:cNvPr id="14" name="Text 12"/>
          <p:cNvSpPr txBox="1"/>
          <p:nvPr/>
        </p:nvSpPr>
        <p:spPr>
          <a:xfrm>
            <a:off x="548640" y="5349240"/>
            <a:ext cx="4937760" cy="731520"/>
          </a:xfrm>
          <a:prstGeom prst="rect">
            <a:avLst/>
          </a:prstGeom>
          <a:noFill/>
          <a:ln/>
        </p:spPr>
        <p:txBody>
          <a:bodyPr wrap="square" lIns="0" tIns="0" rIns="0" bIns="0" rtlCol="0" anchor="t"/>
          <a:lstStyle/>
          <a:p>
            <a:pPr marL="0" indent="0">
              <a:buNone/>
            </a:pPr>
            <a:r>
              <a:rPr lang="en-US" sz="1150" b="1" dirty="0">
                <a:solidFill>
                  <a:srgbClr val="B91C1C"/>
                </a:solidFill>
                <a:latin typeface="Calibri" pitchFamily="34" charset="0"/>
                <a:ea typeface="Calibri" pitchFamily="34" charset="-122"/>
                <a:cs typeface="Calibri" pitchFamily="34" charset="-120"/>
              </a:rPr>
              <a:t>Risk: </a:t>
            </a:r>
            <a:r>
              <a:rPr lang="en-US" sz="1150" dirty="0">
                <a:solidFill>
                  <a:srgbClr val="1A1A1A"/>
                </a:solidFill>
                <a:latin typeface="Calibri" pitchFamily="34" charset="0"/>
                <a:ea typeface="Calibri" pitchFamily="34" charset="-122"/>
                <a:cs typeface="Calibri" pitchFamily="34" charset="-120"/>
              </a:rPr>
              <a:t>We have never been to Antarctica</a:t>
            </a:r>
            <a:endParaRPr lang="en-US" sz="1150" dirty="0"/>
          </a:p>
        </p:txBody>
      </p:sp>
      <p:sp>
        <p:nvSpPr>
          <p:cNvPr id="15" name="Text 13"/>
          <p:cNvSpPr txBox="1"/>
          <p:nvPr/>
        </p:nvSpPr>
        <p:spPr>
          <a:xfrm>
            <a:off x="5669280" y="5349240"/>
            <a:ext cx="5943600" cy="731520"/>
          </a:xfrm>
          <a:prstGeom prst="rect">
            <a:avLst/>
          </a:prstGeom>
          <a:noFill/>
          <a:ln/>
        </p:spPr>
        <p:txBody>
          <a:bodyPr wrap="square" lIns="0" tIns="0" rIns="0" bIns="0" rtlCol="0" anchor="t"/>
          <a:lstStyle/>
          <a:p>
            <a:pPr marL="0" indent="0">
              <a:buNone/>
            </a:pPr>
            <a:r>
              <a:rPr lang="en-US" sz="1150" b="1" dirty="0">
                <a:solidFill>
                  <a:srgbClr val="14532D"/>
                </a:solidFill>
                <a:latin typeface="Calibri" pitchFamily="34" charset="0"/>
                <a:ea typeface="Calibri" pitchFamily="34" charset="-122"/>
                <a:cs typeface="Calibri" pitchFamily="34" charset="-120"/>
              </a:rPr>
              <a:t>Mitigation: </a:t>
            </a:r>
            <a:r>
              <a:rPr lang="en-US" sz="1150" dirty="0">
                <a:solidFill>
                  <a:srgbClr val="1A1A1A"/>
                </a:solidFill>
                <a:latin typeface="Calibri" pitchFamily="34" charset="0"/>
                <a:ea typeface="Calibri" pitchFamily="34" charset="-122"/>
                <a:cs typeface="Calibri" pitchFamily="34" charset="-120"/>
              </a:rPr>
              <a:t>Every constraint sourced from NCPOR's published notices; Week-2 mentor review with a polar-logistics practitioner requested</a:t>
            </a:r>
            <a:endParaRPr lang="en-US" sz="1150" dirty="0"/>
          </a:p>
        </p:txBody>
      </p:sp>
      <p:sp>
        <p:nvSpPr>
          <p:cNvPr id="16" name="Text 14"/>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17" name="Text 15"/>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The 5-day plan — aligned to your evaluation sheet</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By Round 2 you will see the log syncing; by Round 3, the season on one screen</a:t>
            </a:r>
            <a:endParaRPr lang="en-US" sz="1200" dirty="0"/>
          </a:p>
        </p:txBody>
      </p:sp>
      <p:sp>
        <p:nvSpPr>
          <p:cNvPr id="4" name="Shape 2"/>
          <p:cNvSpPr/>
          <p:nvPr/>
        </p:nvSpPr>
        <p:spPr>
          <a:xfrm>
            <a:off x="548640" y="1417320"/>
            <a:ext cx="1828800" cy="585216"/>
          </a:xfrm>
          <a:prstGeom prst="roundRect">
            <a:avLst>
              <a:gd name="adj" fmla="val 7813"/>
            </a:avLst>
          </a:prstGeom>
          <a:solidFill>
            <a:srgbClr val="EAF2F8"/>
          </a:solidFill>
          <a:ln w="12700">
            <a:solidFill>
              <a:srgbClr val="C5D3E0"/>
            </a:solidFill>
            <a:prstDash val="solid"/>
          </a:ln>
        </p:spPr>
        <p:txBody>
          <a:bodyPr/>
          <a:lstStyle/>
          <a:p>
            <a:endParaRPr lang="en-US"/>
          </a:p>
        </p:txBody>
      </p:sp>
      <p:sp>
        <p:nvSpPr>
          <p:cNvPr id="5" name="Text 3"/>
          <p:cNvSpPr txBox="1"/>
          <p:nvPr/>
        </p:nvSpPr>
        <p:spPr>
          <a:xfrm>
            <a:off x="658368" y="1417320"/>
            <a:ext cx="1645920" cy="585216"/>
          </a:xfrm>
          <a:prstGeom prst="rect">
            <a:avLst/>
          </a:prstGeom>
          <a:noFill/>
          <a:ln/>
        </p:spPr>
        <p:txBody>
          <a:bodyPr wrap="square" lIns="0" tIns="0" rIns="0" bIns="0" rtlCol="0" anchor="ctr"/>
          <a:lstStyle/>
          <a:p>
            <a:pPr marL="0" indent="0">
              <a:buNone/>
            </a:pPr>
            <a:r>
              <a:rPr lang="en-US" sz="1150" b="1" dirty="0">
                <a:solidFill>
                  <a:srgbClr val="0B3D66"/>
                </a:solidFill>
                <a:latin typeface="Calibri" pitchFamily="34" charset="0"/>
                <a:ea typeface="Calibri" pitchFamily="34" charset="-122"/>
                <a:cs typeface="Calibri" pitchFamily="34" charset="-120"/>
              </a:rPr>
              <a:t>Before arrival</a:t>
            </a:r>
            <a:endParaRPr lang="en-US" sz="1150" dirty="0"/>
          </a:p>
        </p:txBody>
      </p:sp>
      <p:sp>
        <p:nvSpPr>
          <p:cNvPr id="6" name="Text 4"/>
          <p:cNvSpPr txBox="1"/>
          <p:nvPr/>
        </p:nvSpPr>
        <p:spPr>
          <a:xfrm>
            <a:off x="2606040" y="1417320"/>
            <a:ext cx="5806440" cy="58521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Schema + 5,439-event season loaded; wireframes; roles locked</a:t>
            </a:r>
            <a:endParaRPr lang="en-US" sz="1100" dirty="0"/>
          </a:p>
        </p:txBody>
      </p:sp>
      <p:sp>
        <p:nvSpPr>
          <p:cNvPr id="7" name="Text 5"/>
          <p:cNvSpPr txBox="1"/>
          <p:nvPr/>
        </p:nvSpPr>
        <p:spPr>
          <a:xfrm>
            <a:off x="8595360" y="1417320"/>
            <a:ext cx="3017520" cy="585216"/>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 (done)</a:t>
            </a:r>
            <a:endParaRPr lang="en-US" sz="1100" dirty="0"/>
          </a:p>
        </p:txBody>
      </p:sp>
      <p:sp>
        <p:nvSpPr>
          <p:cNvPr id="8" name="Shape 6"/>
          <p:cNvSpPr/>
          <p:nvPr/>
        </p:nvSpPr>
        <p:spPr>
          <a:xfrm>
            <a:off x="548640" y="2075688"/>
            <a:ext cx="182880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9" name="Text 7"/>
          <p:cNvSpPr txBox="1"/>
          <p:nvPr/>
        </p:nvSpPr>
        <p:spPr>
          <a:xfrm>
            <a:off x="658368" y="2075688"/>
            <a:ext cx="1645920" cy="676656"/>
          </a:xfrm>
          <a:prstGeom prst="rect">
            <a:avLst/>
          </a:prstGeom>
          <a:noFill/>
          <a:ln/>
        </p:spPr>
        <p:txBody>
          <a:bodyPr wrap="square" lIns="0" tIns="0" rIns="0" bIns="0" rtlCol="0" anchor="ctr"/>
          <a:lstStyle/>
          <a:p>
            <a:pPr marL="0" indent="0">
              <a:buNone/>
            </a:pPr>
            <a:r>
              <a:rPr lang="en-US" sz="1150" b="1" dirty="0">
                <a:solidFill>
                  <a:srgbClr val="0B3D66"/>
                </a:solidFill>
                <a:latin typeface="Calibri" pitchFamily="34" charset="0"/>
                <a:ea typeface="Calibri" pitchFamily="34" charset="-122"/>
                <a:cs typeface="Calibri" pitchFamily="34" charset="-120"/>
              </a:rPr>
              <a:t>Day 1 (8th)</a:t>
            </a:r>
            <a:endParaRPr lang="en-US" sz="1150" dirty="0"/>
          </a:p>
        </p:txBody>
      </p:sp>
      <p:sp>
        <p:nvSpPr>
          <p:cNvPr id="10" name="Text 8"/>
          <p:cNvSpPr txBox="1"/>
          <p:nvPr/>
        </p:nvSpPr>
        <p:spPr>
          <a:xfrm>
            <a:off x="2606040" y="2075688"/>
            <a:ext cx="5806440" cy="67665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Cargo QR scan flow + inventory ledger on the PWA, offline</a:t>
            </a:r>
            <a:endParaRPr lang="en-US" sz="1100" dirty="0"/>
          </a:p>
        </p:txBody>
      </p:sp>
      <p:sp>
        <p:nvSpPr>
          <p:cNvPr id="11" name="Text 9"/>
          <p:cNvSpPr txBox="1"/>
          <p:nvPr/>
        </p:nvSpPr>
        <p:spPr>
          <a:xfrm>
            <a:off x="8595360" y="2075688"/>
            <a:ext cx="3017520" cy="676656"/>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Round 1: this pitch</a:t>
            </a:r>
            <a:endParaRPr lang="en-US" sz="1100" dirty="0"/>
          </a:p>
        </p:txBody>
      </p:sp>
      <p:sp>
        <p:nvSpPr>
          <p:cNvPr id="12" name="Shape 10"/>
          <p:cNvSpPr/>
          <p:nvPr/>
        </p:nvSpPr>
        <p:spPr>
          <a:xfrm>
            <a:off x="548640" y="2825496"/>
            <a:ext cx="182880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13" name="Text 11"/>
          <p:cNvSpPr txBox="1"/>
          <p:nvPr/>
        </p:nvSpPr>
        <p:spPr>
          <a:xfrm>
            <a:off x="658368" y="2825496"/>
            <a:ext cx="1645920" cy="676656"/>
          </a:xfrm>
          <a:prstGeom prst="rect">
            <a:avLst/>
          </a:prstGeom>
          <a:noFill/>
          <a:ln/>
        </p:spPr>
        <p:txBody>
          <a:bodyPr wrap="square" lIns="0" tIns="0" rIns="0" bIns="0" rtlCol="0" anchor="ctr"/>
          <a:lstStyle/>
          <a:p>
            <a:pPr marL="0" indent="0">
              <a:buNone/>
            </a:pPr>
            <a:r>
              <a:rPr lang="en-US" sz="1150" b="1" dirty="0">
                <a:solidFill>
                  <a:srgbClr val="0B3D66"/>
                </a:solidFill>
                <a:latin typeface="Calibri" pitchFamily="34" charset="0"/>
                <a:ea typeface="Calibri" pitchFamily="34" charset="-122"/>
                <a:cs typeface="Calibri" pitchFamily="34" charset="-120"/>
              </a:rPr>
              <a:t>Day 2 (9th)</a:t>
            </a:r>
            <a:endParaRPr lang="en-US" sz="1150" dirty="0"/>
          </a:p>
        </p:txBody>
      </p:sp>
      <p:sp>
        <p:nvSpPr>
          <p:cNvPr id="14" name="Text 12"/>
          <p:cNvSpPr txBox="1"/>
          <p:nvPr/>
        </p:nvSpPr>
        <p:spPr>
          <a:xfrm>
            <a:off x="2606040" y="2825496"/>
            <a:ext cx="5806440" cy="67665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Personnel roster + field-party check-in/out + overdue alert; two-laptop sync demo</a:t>
            </a:r>
            <a:endParaRPr lang="en-US" sz="1100" dirty="0"/>
          </a:p>
        </p:txBody>
      </p:sp>
      <p:sp>
        <p:nvSpPr>
          <p:cNvPr id="15" name="Text 13"/>
          <p:cNvSpPr txBox="1"/>
          <p:nvPr/>
        </p:nvSpPr>
        <p:spPr>
          <a:xfrm>
            <a:off x="8595360" y="2825496"/>
            <a:ext cx="3017520" cy="676656"/>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Integration visible</a:t>
            </a:r>
            <a:endParaRPr lang="en-US" sz="1100" dirty="0"/>
          </a:p>
        </p:txBody>
      </p:sp>
      <p:sp>
        <p:nvSpPr>
          <p:cNvPr id="16" name="Shape 14"/>
          <p:cNvSpPr/>
          <p:nvPr/>
        </p:nvSpPr>
        <p:spPr>
          <a:xfrm>
            <a:off x="548640" y="3575304"/>
            <a:ext cx="1828800" cy="676656"/>
          </a:xfrm>
          <a:prstGeom prst="roundRect">
            <a:avLst>
              <a:gd name="adj" fmla="val 6757"/>
            </a:avLst>
          </a:prstGeom>
          <a:solidFill>
            <a:srgbClr val="0B3D66"/>
          </a:solidFill>
          <a:ln w="12700">
            <a:solidFill>
              <a:srgbClr val="C5D3E0"/>
            </a:solidFill>
            <a:prstDash val="solid"/>
          </a:ln>
        </p:spPr>
        <p:txBody>
          <a:bodyPr/>
          <a:lstStyle/>
          <a:p>
            <a:endParaRPr lang="en-US"/>
          </a:p>
        </p:txBody>
      </p:sp>
      <p:sp>
        <p:nvSpPr>
          <p:cNvPr id="17" name="Text 15"/>
          <p:cNvSpPr txBox="1"/>
          <p:nvPr/>
        </p:nvSpPr>
        <p:spPr>
          <a:xfrm>
            <a:off x="658368" y="3575304"/>
            <a:ext cx="1645920" cy="6766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Day 3 (10th)</a:t>
            </a:r>
            <a:endParaRPr lang="en-US" sz="1150" dirty="0"/>
          </a:p>
        </p:txBody>
      </p:sp>
      <p:sp>
        <p:nvSpPr>
          <p:cNvPr id="18" name="Text 16"/>
          <p:cNvSpPr txBox="1"/>
          <p:nvPr/>
        </p:nvSpPr>
        <p:spPr>
          <a:xfrm>
            <a:off x="2606040" y="3575304"/>
            <a:ext cx="5806440" cy="67665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Burn-rate forecast screen + capacity solver first output</a:t>
            </a:r>
            <a:endParaRPr lang="en-US" sz="1100" dirty="0"/>
          </a:p>
        </p:txBody>
      </p:sp>
      <p:sp>
        <p:nvSpPr>
          <p:cNvPr id="19" name="Text 17"/>
          <p:cNvSpPr txBox="1"/>
          <p:nvPr/>
        </p:nvSpPr>
        <p:spPr>
          <a:xfrm>
            <a:off x="8595360" y="3575304"/>
            <a:ext cx="3017520" cy="676656"/>
          </a:xfrm>
          <a:prstGeom prst="rect">
            <a:avLst/>
          </a:prstGeom>
          <a:noFill/>
          <a:ln/>
        </p:spPr>
        <p:txBody>
          <a:bodyPr wrap="square" lIns="0" tIns="0" rIns="0" bIns="0" rtlCol="0" anchor="ctr"/>
          <a:lstStyle/>
          <a:p>
            <a:pPr marL="0" indent="0">
              <a:buNone/>
            </a:pPr>
            <a:r>
              <a:rPr lang="en-US" sz="1100" b="1" dirty="0">
                <a:solidFill>
                  <a:srgbClr val="B91C1C"/>
                </a:solidFill>
                <a:latin typeface="Calibri" pitchFamily="34" charset="0"/>
                <a:ea typeface="Calibri" pitchFamily="34" charset="-122"/>
                <a:cs typeface="Calibri" pitchFamily="34" charset="-120"/>
              </a:rPr>
              <a:t>Round 2: prototype + sync + forecast LIVE</a:t>
            </a:r>
            <a:endParaRPr lang="en-US" sz="1100" dirty="0"/>
          </a:p>
        </p:txBody>
      </p:sp>
      <p:sp>
        <p:nvSpPr>
          <p:cNvPr id="20" name="Shape 18"/>
          <p:cNvSpPr/>
          <p:nvPr/>
        </p:nvSpPr>
        <p:spPr>
          <a:xfrm>
            <a:off x="548640" y="4325112"/>
            <a:ext cx="1828800" cy="676656"/>
          </a:xfrm>
          <a:prstGeom prst="roundRect">
            <a:avLst>
              <a:gd name="adj" fmla="val 6757"/>
            </a:avLst>
          </a:prstGeom>
          <a:solidFill>
            <a:srgbClr val="EAF2F8"/>
          </a:solidFill>
          <a:ln w="12700">
            <a:solidFill>
              <a:srgbClr val="C5D3E0"/>
            </a:solidFill>
            <a:prstDash val="solid"/>
          </a:ln>
        </p:spPr>
        <p:txBody>
          <a:bodyPr/>
          <a:lstStyle/>
          <a:p>
            <a:endParaRPr lang="en-US"/>
          </a:p>
        </p:txBody>
      </p:sp>
      <p:sp>
        <p:nvSpPr>
          <p:cNvPr id="21" name="Text 19"/>
          <p:cNvSpPr txBox="1"/>
          <p:nvPr/>
        </p:nvSpPr>
        <p:spPr>
          <a:xfrm>
            <a:off x="658368" y="4325112"/>
            <a:ext cx="1645920" cy="676656"/>
          </a:xfrm>
          <a:prstGeom prst="rect">
            <a:avLst/>
          </a:prstGeom>
          <a:noFill/>
          <a:ln/>
        </p:spPr>
        <p:txBody>
          <a:bodyPr wrap="square" lIns="0" tIns="0" rIns="0" bIns="0" rtlCol="0" anchor="ctr"/>
          <a:lstStyle/>
          <a:p>
            <a:pPr marL="0" indent="0">
              <a:buNone/>
            </a:pPr>
            <a:r>
              <a:rPr lang="en-US" sz="1150" b="1" dirty="0">
                <a:solidFill>
                  <a:srgbClr val="0B3D66"/>
                </a:solidFill>
                <a:latin typeface="Calibri" pitchFamily="34" charset="0"/>
                <a:ea typeface="Calibri" pitchFamily="34" charset="-122"/>
                <a:cs typeface="Calibri" pitchFamily="34" charset="-120"/>
              </a:rPr>
              <a:t>Day 4 (11th)</a:t>
            </a:r>
            <a:endParaRPr lang="en-US" sz="1150" dirty="0"/>
          </a:p>
        </p:txBody>
      </p:sp>
      <p:sp>
        <p:nvSpPr>
          <p:cNvPr id="22" name="Text 20"/>
          <p:cNvSpPr txBox="1"/>
          <p:nvPr/>
        </p:nvSpPr>
        <p:spPr>
          <a:xfrm>
            <a:off x="2606040" y="4325112"/>
            <a:ext cx="5806440" cy="67665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Emergency module (SOP, MEDEVAC card); HQ dashboard; link-throttle simulator</a:t>
            </a:r>
            <a:endParaRPr lang="en-US" sz="1100" dirty="0"/>
          </a:p>
        </p:txBody>
      </p:sp>
      <p:sp>
        <p:nvSpPr>
          <p:cNvPr id="23" name="Text 21"/>
          <p:cNvSpPr txBox="1"/>
          <p:nvPr/>
        </p:nvSpPr>
        <p:spPr>
          <a:xfrm>
            <a:off x="8595360" y="4325112"/>
            <a:ext cx="3017520" cy="676656"/>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Usability polish</a:t>
            </a:r>
            <a:endParaRPr lang="en-US" sz="1100" dirty="0"/>
          </a:p>
        </p:txBody>
      </p:sp>
      <p:sp>
        <p:nvSpPr>
          <p:cNvPr id="24" name="Shape 22"/>
          <p:cNvSpPr/>
          <p:nvPr/>
        </p:nvSpPr>
        <p:spPr>
          <a:xfrm>
            <a:off x="548640" y="5074920"/>
            <a:ext cx="1828800" cy="676656"/>
          </a:xfrm>
          <a:prstGeom prst="roundRect">
            <a:avLst>
              <a:gd name="adj" fmla="val 6757"/>
            </a:avLst>
          </a:prstGeom>
          <a:solidFill>
            <a:srgbClr val="0B3D66"/>
          </a:solidFill>
          <a:ln w="12700">
            <a:solidFill>
              <a:srgbClr val="C5D3E0"/>
            </a:solidFill>
            <a:prstDash val="solid"/>
          </a:ln>
        </p:spPr>
        <p:txBody>
          <a:bodyPr/>
          <a:lstStyle/>
          <a:p>
            <a:endParaRPr lang="en-US"/>
          </a:p>
        </p:txBody>
      </p:sp>
      <p:sp>
        <p:nvSpPr>
          <p:cNvPr id="25" name="Text 23"/>
          <p:cNvSpPr txBox="1"/>
          <p:nvPr/>
        </p:nvSpPr>
        <p:spPr>
          <a:xfrm>
            <a:off x="658368" y="5074920"/>
            <a:ext cx="1645920" cy="6766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Day 5 (12th)</a:t>
            </a:r>
            <a:endParaRPr lang="en-US" sz="1150" dirty="0"/>
          </a:p>
        </p:txBody>
      </p:sp>
      <p:sp>
        <p:nvSpPr>
          <p:cNvPr id="26" name="Text 24"/>
          <p:cNvSpPr txBox="1"/>
          <p:nvPr/>
        </p:nvSpPr>
        <p:spPr>
          <a:xfrm>
            <a:off x="2606040" y="5074920"/>
            <a:ext cx="5806440" cy="676656"/>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Full rehearsed demo: pack in Goa → scan Cape Town → cut link → overdue party → restore → HQ sees all</a:t>
            </a:r>
            <a:endParaRPr lang="en-US" sz="1100" dirty="0"/>
          </a:p>
        </p:txBody>
      </p:sp>
      <p:sp>
        <p:nvSpPr>
          <p:cNvPr id="27" name="Text 25"/>
          <p:cNvSpPr txBox="1"/>
          <p:nvPr/>
        </p:nvSpPr>
        <p:spPr>
          <a:xfrm>
            <a:off x="8595360" y="5074920"/>
            <a:ext cx="3017520" cy="676656"/>
          </a:xfrm>
          <a:prstGeom prst="rect">
            <a:avLst/>
          </a:prstGeom>
          <a:noFill/>
          <a:ln/>
        </p:spPr>
        <p:txBody>
          <a:bodyPr wrap="square" lIns="0" tIns="0" rIns="0" bIns="0" rtlCol="0" anchor="ctr"/>
          <a:lstStyle/>
          <a:p>
            <a:pPr marL="0" indent="0">
              <a:buNone/>
            </a:pPr>
            <a:r>
              <a:rPr lang="en-US" sz="1100" b="1" dirty="0">
                <a:solidFill>
                  <a:srgbClr val="B91C1C"/>
                </a:solidFill>
                <a:latin typeface="Calibri" pitchFamily="34" charset="0"/>
                <a:ea typeface="Calibri" pitchFamily="34" charset="-122"/>
                <a:cs typeface="Calibri" pitchFamily="34" charset="-120"/>
              </a:rPr>
              <a:t>Round 3: demo + readiness + future scope</a:t>
            </a:r>
            <a:endParaRPr lang="en-US" sz="1100" dirty="0"/>
          </a:p>
        </p:txBody>
      </p:sp>
      <p:sp>
        <p:nvSpPr>
          <p:cNvPr id="28" name="Text 26"/>
          <p:cNvSpPr txBox="1"/>
          <p:nvPr/>
        </p:nvSpPr>
        <p:spPr>
          <a:xfrm>
            <a:off x="548640" y="5934456"/>
            <a:ext cx="11064240" cy="502920"/>
          </a:xfrm>
          <a:prstGeom prst="rect">
            <a:avLst/>
          </a:prstGeom>
          <a:noFill/>
          <a:ln/>
        </p:spPr>
        <p:txBody>
          <a:bodyPr wrap="square" lIns="0" tIns="0" rIns="0" bIns="0" rtlCol="0" anchor="ctr"/>
          <a:lstStyle/>
          <a:p>
            <a:pPr marL="0" indent="0">
              <a:buNone/>
            </a:pPr>
            <a:r>
              <a:rPr lang="en-US" sz="1150" i="1" dirty="0">
                <a:solidFill>
                  <a:srgbClr val="5A6B7A"/>
                </a:solidFill>
                <a:latin typeface="Calibri" pitchFamily="34" charset="0"/>
                <a:ea typeface="Calibri" pitchFamily="34" charset="-122"/>
                <a:cs typeface="Calibri" pitchFamily="34" charset="-120"/>
              </a:rPr>
              <a:t>Ownership: [A] solver · [B] PWA/offline · [C] sync &amp; schema · [D] UI/UX · [E] domain &amp; data · [F] pitch &amp; demo — one name per module, visible in every round.</a:t>
            </a:r>
            <a:endParaRPr lang="en-US" sz="1150" dirty="0"/>
          </a:p>
        </p:txBody>
      </p:sp>
      <p:sp>
        <p:nvSpPr>
          <p:cNvPr id="29" name="Text 27"/>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30" name="Text 28"/>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Why it matters</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Impact for NCPOR — and beyond</a:t>
            </a:r>
            <a:endParaRPr lang="en-US" sz="1200" dirty="0"/>
          </a:p>
        </p:txBody>
      </p:sp>
      <p:sp>
        <p:nvSpPr>
          <p:cNvPr id="4" name="Text 2"/>
          <p:cNvSpPr txBox="1"/>
          <p:nvPr/>
        </p:nvSpPr>
        <p:spPr>
          <a:xfrm>
            <a:off x="548640" y="1463040"/>
            <a:ext cx="11064240" cy="29260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Safety: COMNAP-aligned man-overdue alarms and offline MEDEVAC feasibility — minutes matter more on the ice than anywhere else</a:t>
            </a:r>
            <a:endParaRPr lang="en-US" sz="1400" dirty="0"/>
          </a:p>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Economic: one avoided Basler charter (crore-scale) or one avoided winter fuel shortfall pays for the system many times over</a:t>
            </a:r>
            <a:endParaRPr lang="en-US" sz="1400" dirty="0"/>
          </a:p>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Environmental: right-sized fuel shipments, fewer emergency flights, less material abandoned on the ice</a:t>
            </a:r>
            <a:endParaRPr lang="en-US" sz="1400" dirty="0"/>
          </a:p>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Strategic: the vessel charter ends in 2026 — a control tower makes the next tender data-driven</a:t>
            </a:r>
            <a:endParaRPr lang="en-US" sz="1400" dirty="0"/>
          </a:p>
          <a:p>
            <a:pPr marL="342900" indent="-3429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Reusable pattern: Himadri (Arctic), BRO high-altitude posts, ONGC offshore, island territories — every Indian “low-bandwidth, high-stakes” supply chain</a:t>
            </a:r>
            <a:endParaRPr lang="en-US" sz="1400" dirty="0"/>
          </a:p>
        </p:txBody>
      </p:sp>
      <p:sp>
        <p:nvSpPr>
          <p:cNvPr id="5" name="Shape 3"/>
          <p:cNvSpPr/>
          <p:nvPr/>
        </p:nvSpPr>
        <p:spPr>
          <a:xfrm>
            <a:off x="548640" y="4572000"/>
            <a:ext cx="11064240" cy="1554480"/>
          </a:xfrm>
          <a:prstGeom prst="roundRect">
            <a:avLst>
              <a:gd name="adj" fmla="val 4118"/>
            </a:avLst>
          </a:prstGeom>
          <a:solidFill>
            <a:srgbClr val="0B3D66"/>
          </a:solidFill>
          <a:ln/>
        </p:spPr>
        <p:txBody>
          <a:bodyPr/>
          <a:lstStyle/>
          <a:p>
            <a:endParaRPr lang="en-US"/>
          </a:p>
        </p:txBody>
      </p:sp>
      <p:sp>
        <p:nvSpPr>
          <p:cNvPr id="6" name="Text 4"/>
          <p:cNvSpPr txBox="1"/>
          <p:nvPr/>
        </p:nvSpPr>
        <p:spPr>
          <a:xfrm>
            <a:off x="822960" y="4754880"/>
            <a:ext cx="10515600" cy="1188720"/>
          </a:xfrm>
          <a:prstGeom prst="rect">
            <a:avLst/>
          </a:prstGeom>
          <a:noFill/>
          <a:ln/>
        </p:spPr>
        <p:txBody>
          <a:bodyPr wrap="square" lIns="0" tIns="0" rIns="0" bIns="0" rtlCol="0" anchor="ctr"/>
          <a:lstStyle/>
          <a:p>
            <a:pPr marL="0" indent="0">
              <a:buNone/>
            </a:pPr>
            <a:r>
              <a:rPr lang="en-US" sz="1500" b="1" dirty="0">
                <a:solidFill>
                  <a:srgbClr val="BBD4EA"/>
                </a:solidFill>
                <a:latin typeface="Calibri" pitchFamily="34" charset="0"/>
                <a:ea typeface="Calibri" pitchFamily="34" charset="-122"/>
                <a:cs typeface="Calibri" pitchFamily="34" charset="-120"/>
              </a:rPr>
              <a:t>The demo moment we are building toward: </a:t>
            </a:r>
            <a:r>
              <a:rPr lang="en-US" sz="1500" dirty="0">
                <a:solidFill>
                  <a:srgbClr val="FFFFFF"/>
                </a:solidFill>
                <a:latin typeface="Calibri" pitchFamily="34" charset="0"/>
                <a:ea typeface="Calibri" pitchFamily="34" charset="-122"/>
                <a:cs typeface="Calibri" pitchFamily="34" charset="-120"/>
              </a:rPr>
              <a:t>same headcount, same burn — Maitri crosses zero on 2 Oct, seven weeks before the ship. One screen turns an inventory list into a decision that has to be made in March.</a:t>
            </a:r>
            <a:endParaRPr lang="en-US" sz="150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8" name="Text 6"/>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marL="0" indent="0">
              <a:buNone/>
            </a:pPr>
            <a:r>
              <a:rPr lang="en-US" sz="2600" b="1" dirty="0">
                <a:solidFill>
                  <a:srgbClr val="0B3D66"/>
                </a:solidFill>
                <a:latin typeface="Calibri" pitchFamily="34" charset="0"/>
                <a:ea typeface="Calibri" pitchFamily="34" charset="-122"/>
                <a:cs typeface="Calibri" pitchFamily="34" charset="-120"/>
              </a:rPr>
              <a:t>Backup — the three hardest questions</a:t>
            </a:r>
            <a:endParaRPr lang="en-US" sz="2600" dirty="0"/>
          </a:p>
        </p:txBody>
      </p:sp>
      <p:sp>
        <p:nvSpPr>
          <p:cNvPr id="3" name="Text 1"/>
          <p:cNvSpPr txBox="1"/>
          <p:nvPr/>
        </p:nvSpPr>
        <p:spPr>
          <a:xfrm>
            <a:off x="548640" y="841248"/>
            <a:ext cx="11064240" cy="32004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(kept ready for Q&amp;A, not presented)</a:t>
            </a:r>
            <a:endParaRPr lang="en-US" sz="1200" dirty="0"/>
          </a:p>
        </p:txBody>
      </p:sp>
      <p:sp>
        <p:nvSpPr>
          <p:cNvPr id="4" name="Text 2"/>
          <p:cNvSpPr txBox="1"/>
          <p:nvPr/>
        </p:nvSpPr>
        <p:spPr>
          <a:xfrm>
            <a:off x="548640" y="1417320"/>
            <a:ext cx="11064240" cy="1554480"/>
          </a:xfrm>
          <a:prstGeom prst="rect">
            <a:avLst/>
          </a:prstGeom>
          <a:noFill/>
          <a:ln/>
        </p:spPr>
        <p:txBody>
          <a:bodyPr wrap="square" lIns="0" tIns="0" rIns="0" bIns="0" rtlCol="0" anchor="ctr"/>
          <a:lstStyle/>
          <a:p>
            <a:pPr marL="0" indent="0">
              <a:spcAft>
                <a:spcPts val="400"/>
              </a:spcAft>
              <a:buNone/>
            </a:pPr>
            <a:r>
              <a:rPr lang="en-US" sz="1300" b="1" dirty="0">
                <a:solidFill>
                  <a:srgbClr val="0B3D66"/>
                </a:solidFill>
                <a:latin typeface="Calibri" pitchFamily="34" charset="0"/>
                <a:ea typeface="Calibri" pitchFamily="34" charset="-122"/>
                <a:cs typeface="Calibri" pitchFamily="34" charset="-120"/>
              </a:rPr>
              <a:t>“Why will station staff actually log consumption every day?”</a:t>
            </a:r>
            <a:endParaRPr lang="en-US" sz="1300" dirty="0"/>
          </a:p>
          <a:p>
            <a:pPr marL="0" indent="0">
              <a:spcAft>
                <a:spcPts val="400"/>
              </a:spcAft>
              <a:buNone/>
            </a:pPr>
            <a:r>
              <a:rPr lang="en-US" sz="1150" dirty="0">
                <a:solidFill>
                  <a:srgbClr val="1A1A1A"/>
                </a:solidFill>
                <a:latin typeface="Calibri" pitchFamily="34" charset="0"/>
                <a:ea typeface="Calibri" pitchFamily="34" charset="-122"/>
                <a:cs typeface="Calibri" pitchFamily="34" charset="-120"/>
              </a:rPr>
              <a:t>We ask for one aggregate entry per category per day (~2 minutes), not per-item logging; audits reconcile drift; the payoff — the stock-out date — is shown to the same person who logs. Incentive and effort meet at the same screen.</a:t>
            </a:r>
            <a:endParaRPr lang="en-US" sz="1300" dirty="0"/>
          </a:p>
        </p:txBody>
      </p:sp>
      <p:sp>
        <p:nvSpPr>
          <p:cNvPr id="5" name="Text 3"/>
          <p:cNvSpPr txBox="1"/>
          <p:nvPr/>
        </p:nvSpPr>
        <p:spPr>
          <a:xfrm>
            <a:off x="548640" y="3063240"/>
            <a:ext cx="11064240" cy="1554480"/>
          </a:xfrm>
          <a:prstGeom prst="rect">
            <a:avLst/>
          </a:prstGeom>
          <a:noFill/>
          <a:ln/>
        </p:spPr>
        <p:txBody>
          <a:bodyPr wrap="square" lIns="0" tIns="0" rIns="0" bIns="0" rtlCol="0" anchor="ctr"/>
          <a:lstStyle/>
          <a:p>
            <a:pPr marL="0" indent="0">
              <a:spcAft>
                <a:spcPts val="400"/>
              </a:spcAft>
              <a:buNone/>
            </a:pPr>
            <a:r>
              <a:rPr lang="en-US" sz="1300" b="1" dirty="0">
                <a:solidFill>
                  <a:srgbClr val="0B3D66"/>
                </a:solidFill>
                <a:latin typeface="Calibri" pitchFamily="34" charset="0"/>
                <a:ea typeface="Calibri" pitchFamily="34" charset="-122"/>
                <a:cs typeface="Calibri" pitchFamily="34" charset="-120"/>
              </a:rPr>
              <a:t>“What happens when two nodes disagree about stock?”</a:t>
            </a:r>
            <a:endParaRPr lang="en-US" sz="1300" dirty="0"/>
          </a:p>
          <a:p>
            <a:pPr marL="0" indent="0">
              <a:spcAft>
                <a:spcPts val="400"/>
              </a:spcAft>
              <a:buNone/>
            </a:pPr>
            <a:r>
              <a:rPr lang="en-US" sz="1150" dirty="0">
                <a:solidFill>
                  <a:srgbClr val="1A1A1A"/>
                </a:solidFill>
                <a:latin typeface="Calibri" pitchFamily="34" charset="0"/>
                <a:ea typeface="Calibri" pitchFamily="34" charset="-122"/>
                <a:cs typeface="Calibri" pitchFamily="34" charset="-120"/>
              </a:rPr>
              <a:t>They never edit the same record — each appends its own events. Projected stock is a computed view; a physical STOCK_COUNTED event outranks projection and re-bases it. Discrepancy itself becomes visible data (shrinkage, spoilage).</a:t>
            </a:r>
            <a:endParaRPr lang="en-US" sz="1300" dirty="0"/>
          </a:p>
        </p:txBody>
      </p:sp>
      <p:sp>
        <p:nvSpPr>
          <p:cNvPr id="6" name="Text 4"/>
          <p:cNvSpPr txBox="1"/>
          <p:nvPr/>
        </p:nvSpPr>
        <p:spPr>
          <a:xfrm>
            <a:off x="548640" y="4709160"/>
            <a:ext cx="11064240" cy="1554480"/>
          </a:xfrm>
          <a:prstGeom prst="rect">
            <a:avLst/>
          </a:prstGeom>
          <a:noFill/>
          <a:ln/>
        </p:spPr>
        <p:txBody>
          <a:bodyPr wrap="square" lIns="0" tIns="0" rIns="0" bIns="0" rtlCol="0" anchor="ctr"/>
          <a:lstStyle/>
          <a:p>
            <a:pPr marL="0" indent="0">
              <a:spcAft>
                <a:spcPts val="400"/>
              </a:spcAft>
              <a:buNone/>
            </a:pPr>
            <a:r>
              <a:rPr lang="en-US" sz="1300" b="1" dirty="0">
                <a:solidFill>
                  <a:srgbClr val="0B3D66"/>
                </a:solidFill>
                <a:latin typeface="Calibri" pitchFamily="34" charset="0"/>
                <a:ea typeface="Calibri" pitchFamily="34" charset="-122"/>
                <a:cs typeface="Calibri" pitchFamily="34" charset="-120"/>
              </a:rPr>
              <a:t>“NCPOR has IT systems. Why would they adopt this?”</a:t>
            </a:r>
            <a:endParaRPr lang="en-US" sz="1300" dirty="0"/>
          </a:p>
          <a:p>
            <a:pPr marL="0" indent="0">
              <a:spcAft>
                <a:spcPts val="400"/>
              </a:spcAft>
              <a:buNone/>
            </a:pPr>
            <a:r>
              <a:rPr lang="en-US" sz="1150" dirty="0">
                <a:solidFill>
                  <a:srgbClr val="1A1A1A"/>
                </a:solidFill>
                <a:latin typeface="Calibri" pitchFamily="34" charset="0"/>
                <a:ea typeface="Calibri" pitchFamily="34" charset="-122"/>
                <a:cs typeface="Calibri" pitchFamily="34" charset="-120"/>
              </a:rPr>
              <a:t>Those systems handle procurement and files in Goa. Nothing today follows a crate across five custody handovers or forecasts winter stock at a disconnected station. We integrate via API, we do not replace — and the pilot needs one laptop per node.</a:t>
            </a:r>
            <a:endParaRPr lang="en-US" sz="1300" dirty="0"/>
          </a:p>
        </p:txBody>
      </p:sp>
      <p:sp>
        <p:nvSpPr>
          <p:cNvPr id="7" name="Text 5"/>
          <p:cNvSpPr txBox="1"/>
          <p:nvPr/>
        </p:nvSpPr>
        <p:spPr>
          <a:xfrm>
            <a:off x="548640" y="6510528"/>
            <a:ext cx="5486400" cy="274320"/>
          </a:xfrm>
          <a:prstGeom prst="rect">
            <a:avLst/>
          </a:prstGeom>
          <a:noFill/>
          <a:ln/>
        </p:spPr>
        <p:txBody>
          <a:bodyPr wrap="square" lIns="0" tIns="0" rIns="0" bIns="0" rtlCol="0" anchor="ctr"/>
          <a:lstStyle/>
          <a:p>
            <a:pPr marL="0" indent="0">
              <a:buNone/>
            </a:pPr>
            <a:r>
              <a:rPr lang="en-US" sz="900" dirty="0">
                <a:solidFill>
                  <a:srgbClr val="5A6B7A"/>
                </a:solidFill>
                <a:latin typeface="Calibri" pitchFamily="34" charset="0"/>
                <a:ea typeface="Calibri" pitchFamily="34" charset="-122"/>
                <a:cs typeface="Calibri" pitchFamily="34" charset="-120"/>
              </a:rPr>
              <a:t>PolarOS — SIH26062 | Team [Name], SVIST</a:t>
            </a:r>
            <a:endParaRPr lang="en-US" sz="900" dirty="0"/>
          </a:p>
        </p:txBody>
      </p:sp>
      <p:sp>
        <p:nvSpPr>
          <p:cNvPr id="8" name="Text 6"/>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1250</TotalTime>
  <Words>14277</Words>
  <Application>Microsoft Macintosh PowerPoint</Application>
  <PresentationFormat>Widescreen</PresentationFormat>
  <Paragraphs>391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Sandip Datta</cp:lastModifiedBy>
  <cp:revision>2</cp:revision>
  <dcterms:created xsi:type="dcterms:W3CDTF">2026-09-03T07:16:37Z</dcterms:created>
  <dcterms:modified xsi:type="dcterms:W3CDTF">2026-09-04T04:09:19Z</dcterms:modified>
</cp:coreProperties>
</file>