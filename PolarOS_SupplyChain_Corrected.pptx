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8982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PolarOS — the supply chain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sea (ship-only heavy cargo &amp; fuel) · Orange = air (people, light urgent) · Sandhi has no airfield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3017520"/>
            <a:ext cx="16002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0B3D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11480" y="3063240"/>
            <a:ext cx="1600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NCPOR Goa</a:t>
            </a:r>
            <a:endParaRPr lang="en-US" sz="20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· full link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14600" y="3017520"/>
            <a:ext cx="1600200" cy="868680"/>
          </a:xfrm>
          <a:prstGeom prst="roundRect">
            <a:avLst>
              <a:gd name="adj" fmla="val 7368"/>
            </a:avLst>
          </a:prstGeom>
          <a:solidFill>
            <a:srgbClr val="EAF2F8"/>
          </a:solidFill>
          <a:ln w="15875">
            <a:solidFill>
              <a:srgbClr val="0B3D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514600" y="3063240"/>
            <a:ext cx="1600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Port</a:t>
            </a:r>
            <a:endParaRPr lang="en-US" sz="20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lots sail Oct–Nov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617720" y="3017520"/>
            <a:ext cx="1600200" cy="868680"/>
          </a:xfrm>
          <a:prstGeom prst="roundRect">
            <a:avLst>
              <a:gd name="adj" fmla="val 7368"/>
            </a:avLst>
          </a:prstGeom>
          <a:solidFill>
            <a:srgbClr val="EAF2F8"/>
          </a:solidFill>
          <a:ln w="15875">
            <a:solidFill>
              <a:srgbClr val="0B3D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617720" y="3063240"/>
            <a:ext cx="1600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 Town</a:t>
            </a:r>
            <a:endParaRPr lang="en-US" sz="20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· fuel purchase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011680" y="3447288"/>
            <a:ext cx="502920" cy="0"/>
          </a:xfrm>
          <a:prstGeom prst="line">
            <a:avLst/>
          </a:prstGeom>
          <a:noFill/>
          <a:ln w="28575">
            <a:solidFill>
              <a:srgbClr val="0B3D6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0" y="3447288"/>
            <a:ext cx="502920" cy="0"/>
          </a:xfrm>
          <a:prstGeom prst="line">
            <a:avLst/>
          </a:prstGeom>
          <a:noFill/>
          <a:ln w="28575">
            <a:solidFill>
              <a:srgbClr val="0B3D6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03720" y="1417320"/>
            <a:ext cx="1600200" cy="868680"/>
          </a:xfrm>
          <a:prstGeom prst="roundRect">
            <a:avLst>
              <a:gd name="adj" fmla="val 7368"/>
            </a:avLst>
          </a:prstGeom>
          <a:solidFill>
            <a:srgbClr val="FDECEA"/>
          </a:solidFill>
          <a:ln w="1587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903720" y="1463040"/>
            <a:ext cx="1600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(charter)</a:t>
            </a:r>
            <a:endParaRPr lang="en-US" sz="16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cargo · ship heli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03720" y="4617720"/>
            <a:ext cx="1600200" cy="868680"/>
          </a:xfrm>
          <a:prstGeom prst="roundRect">
            <a:avLst>
              <a:gd name="adj" fmla="val 7368"/>
            </a:avLst>
          </a:prstGeom>
          <a:solidFill>
            <a:srgbClr val="FEF6E7"/>
          </a:solidFill>
          <a:ln w="1587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903720" y="4663440"/>
            <a:ext cx="1600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airfield</a:t>
            </a:r>
            <a:endParaRPr lang="en-US" sz="20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intercontinental flights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89720" y="777240"/>
            <a:ext cx="1463040" cy="868680"/>
          </a:xfrm>
          <a:prstGeom prst="roundRect">
            <a:avLst>
              <a:gd name="adj" fmla="val 7368"/>
            </a:avLst>
          </a:prstGeom>
          <a:solidFill>
            <a:srgbClr val="EAF2F8"/>
          </a:solidFill>
          <a:ln w="15875">
            <a:solidFill>
              <a:srgbClr val="0B3D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189720" y="822960"/>
            <a:ext cx="1463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Maitri</a:t>
            </a:r>
            <a:endParaRPr lang="en-US" sz="20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Schirmacher · KB link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98280" y="3246120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EAF2F8"/>
          </a:solidFill>
          <a:ln w="15875">
            <a:solidFill>
              <a:srgbClr val="0B3D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098280" y="3291840"/>
            <a:ext cx="1417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Bharati</a:t>
            </a:r>
            <a:endParaRPr lang="en-US" sz="20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Larsemann · KB link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189720" y="5257800"/>
            <a:ext cx="1371600" cy="868680"/>
          </a:xfrm>
          <a:prstGeom prst="roundRect">
            <a:avLst>
              <a:gd name="adj" fmla="val 7368"/>
            </a:avLst>
          </a:prstGeom>
          <a:solidFill>
            <a:srgbClr val="FEF6E7"/>
          </a:solidFill>
          <a:ln w="1587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189720" y="5303520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Zenit airfield</a:t>
            </a:r>
            <a:endParaRPr lang="en-US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Basler ≤1,800 kg incl. people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744200" y="3246120"/>
            <a:ext cx="1325880" cy="868680"/>
          </a:xfrm>
          <a:prstGeom prst="roundRect">
            <a:avLst>
              <a:gd name="adj" fmla="val 7368"/>
            </a:avLst>
          </a:prstGeom>
          <a:solidFill>
            <a:srgbClr val="EAF2F8"/>
          </a:solidFill>
          <a:ln w="15875">
            <a:solidFill>
              <a:srgbClr val="0B3D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10744200" y="3291840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Sandhi</a:t>
            </a:r>
            <a:endParaRPr lang="en-US" sz="20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camp · no airfield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 flipV="1">
            <a:off x="6217920" y="2103120"/>
            <a:ext cx="685800" cy="1143000"/>
          </a:xfrm>
          <a:prstGeom prst="line">
            <a:avLst/>
          </a:prstGeom>
          <a:noFill/>
          <a:ln w="28575">
            <a:solidFill>
              <a:srgbClr val="B91C1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4937760" y="22174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ONLY: fuel, food, steel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 flipV="1">
            <a:off x="8503920" y="1234440"/>
            <a:ext cx="685800" cy="457200"/>
          </a:xfrm>
          <a:prstGeom prst="line">
            <a:avLst/>
          </a:prstGeom>
          <a:noFill/>
          <a:ln w="28575">
            <a:solidFill>
              <a:srgbClr val="B91C1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503920" y="2148840"/>
            <a:ext cx="1005840" cy="1097280"/>
          </a:xfrm>
          <a:prstGeom prst="line">
            <a:avLst/>
          </a:prstGeom>
          <a:noFill/>
          <a:ln w="28575">
            <a:solidFill>
              <a:srgbClr val="B91C1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503920" y="1920240"/>
            <a:ext cx="2423160" cy="1280160"/>
          </a:xfrm>
          <a:prstGeom prst="line">
            <a:avLst/>
          </a:prstGeom>
          <a:noFill/>
          <a:ln w="22225">
            <a:solidFill>
              <a:srgbClr val="B91C1C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9059505" y="21122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 only when ship is near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17920" y="3657600"/>
            <a:ext cx="685800" cy="1188720"/>
          </a:xfrm>
          <a:prstGeom prst="line">
            <a:avLst/>
          </a:prstGeom>
          <a:noFill/>
          <a:ln w="28575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5385817" y="4195591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AIR: light, urgent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 flipV="1">
            <a:off x="7699248" y="1645920"/>
            <a:ext cx="1627632" cy="2971800"/>
          </a:xfrm>
          <a:prstGeom prst="line">
            <a:avLst/>
          </a:prstGeom>
          <a:noFill/>
          <a:ln w="22225">
            <a:solidFill>
              <a:srgbClr val="B45309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492240" y="26609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Maitri adjoins Novo — land transfer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503920" y="5257800"/>
            <a:ext cx="685800" cy="320040"/>
          </a:xfrm>
          <a:prstGeom prst="line">
            <a:avLst/>
          </a:prstGeom>
          <a:noFill/>
          <a:ln w="28575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 flipV="1">
            <a:off x="9802368" y="4133088"/>
            <a:ext cx="0" cy="1124712"/>
          </a:xfrm>
          <a:prstGeom prst="line">
            <a:avLst/>
          </a:prstGeom>
          <a:noFill/>
          <a:ln w="28575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0515600" y="3840480"/>
            <a:ext cx="228600" cy="0"/>
          </a:xfrm>
          <a:prstGeom prst="line">
            <a:avLst/>
          </a:prstGeom>
          <a:noFill/>
          <a:ln w="19050">
            <a:solidFill>
              <a:srgbClr val="0B3D66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10378440" y="4160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support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season Dec–Feb · Winter-over Mar–Nov: 9 months, no resupply · station links KB-scale (illustrative — see NCPOR notices for sourced figures)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1084</TotalTime>
  <Words>146</Words>
  <Application>Microsoft Macintosh PowerPoint</Application>
  <PresentationFormat>Widescreen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Sandip Datta</cp:lastModifiedBy>
  <cp:revision>2</cp:revision>
  <dcterms:created xsi:type="dcterms:W3CDTF">2026-09-03T10:03:35Z</dcterms:created>
  <dcterms:modified xsi:type="dcterms:W3CDTF">2026-09-04T04:09:08Z</dcterms:modified>
</cp:coreProperties>
</file>